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7" r:id="rId11"/>
    <p:sldId id="264" r:id="rId12"/>
    <p:sldId id="268" r:id="rId13"/>
    <p:sldId id="271" r:id="rId14"/>
    <p:sldId id="272" r:id="rId15"/>
    <p:sldId id="265" r:id="rId16"/>
    <p:sldId id="269" r:id="rId17"/>
    <p:sldId id="270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3692" autoAdjust="0"/>
  </p:normalViewPr>
  <p:slideViewPr>
    <p:cSldViewPr>
      <p:cViewPr>
        <p:scale>
          <a:sx n="100" d="100"/>
          <a:sy n="100" d="100"/>
        </p:scale>
        <p:origin x="-528" y="7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21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7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21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67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18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3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38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64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51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49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827F-39BF-4529-A61D-05FAB7F60BB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92BAD-60CA-426C-98DD-A1656270B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54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EA0D3-1729-47AF-BF12-1D0B995C7D0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72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	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Project Title: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Hotel Reservation and Room Management</a:t>
            </a:r>
            <a:b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tx2"/>
                </a:solidFill>
              </a:rPr>
              <a:t/>
            </a:r>
            <a:br>
              <a:rPr lang="en-US" dirty="0" smtClean="0">
                <a:solidFill>
                  <a:schemeClr val="tx2"/>
                </a:solidFill>
              </a:rPr>
            </a:br>
            <a:r>
              <a:rPr lang="en-US" dirty="0" smtClean="0">
                <a:solidFill>
                  <a:schemeClr val="tx2"/>
                </a:solidFill>
              </a:rPr>
              <a:t>Presented by: Fatima </a:t>
            </a:r>
            <a:r>
              <a:rPr lang="en-US" dirty="0" err="1" smtClean="0">
                <a:solidFill>
                  <a:schemeClr val="tx2"/>
                </a:solidFill>
              </a:rPr>
              <a:t>Tuz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Samiha</a:t>
            </a:r>
            <a:r>
              <a:rPr lang="en-US" dirty="0" smtClean="0">
                <a:solidFill>
                  <a:schemeClr val="tx2"/>
                </a:solidFill>
              </a:rPr>
              <a:t/>
            </a:r>
            <a:br>
              <a:rPr lang="en-US" dirty="0" smtClean="0">
                <a:solidFill>
                  <a:schemeClr val="tx2"/>
                </a:solidFill>
              </a:rPr>
            </a:br>
            <a:r>
              <a:rPr lang="en-US" dirty="0" smtClean="0">
                <a:solidFill>
                  <a:schemeClr val="tx2"/>
                </a:solidFill>
              </a:rPr>
              <a:t>ID: 2312003642</a:t>
            </a:r>
            <a:br>
              <a:rPr lang="en-US" dirty="0" smtClean="0">
                <a:solidFill>
                  <a:schemeClr val="tx2"/>
                </a:solidFill>
              </a:rPr>
            </a:br>
            <a:r>
              <a:rPr lang="en-US" dirty="0" smtClean="0">
                <a:solidFill>
                  <a:schemeClr val="tx2"/>
                </a:solidFill>
              </a:rPr>
              <a:t>Course:Cse311</a:t>
            </a:r>
            <a:br>
              <a:rPr lang="en-US" dirty="0" smtClean="0">
                <a:solidFill>
                  <a:schemeClr val="tx2"/>
                </a:solidFill>
              </a:rPr>
            </a:br>
            <a:r>
              <a:rPr lang="en-US" dirty="0" smtClean="0">
                <a:solidFill>
                  <a:schemeClr val="tx2"/>
                </a:solidFill>
              </a:rPr>
              <a:t>Section: 8</a:t>
            </a:r>
            <a:br>
              <a:rPr lang="en-US" dirty="0" smtClean="0">
                <a:solidFill>
                  <a:schemeClr val="tx2"/>
                </a:solidFill>
              </a:rPr>
            </a:br>
            <a:r>
              <a:rPr lang="en-US" dirty="0" smtClean="0">
                <a:solidFill>
                  <a:schemeClr val="tx2"/>
                </a:solidFill>
              </a:rPr>
              <a:t>Faculty:MKN1</a:t>
            </a:r>
            <a:br>
              <a:rPr lang="en-US" dirty="0" smtClean="0">
                <a:solidFill>
                  <a:schemeClr val="tx2"/>
                </a:solidFill>
              </a:rPr>
            </a:b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93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b="1" i="0" u="none" strike="noStrike" baseline="0" dirty="0" smtClean="0">
                <a:solidFill>
                  <a:srgbClr val="365F91"/>
                </a:solidFill>
                <a:latin typeface="Times New Roman"/>
              </a:rPr>
              <a:t>Project Overview: Hotel Reservation and Room Management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b="1" dirty="0" smtClean="0"/>
              <a:t>Hotel Reservation and Room Management System</a:t>
            </a:r>
            <a:r>
              <a:rPr lang="en-US" dirty="0" smtClean="0"/>
              <a:t> is a web-based application designed to simplify the process of managing hotel operations, including guest registration, room availability, and reservations. The system provides a centralized platform for hotel staff to efficiently handle day-to-day activities and for guests to easily book rooms.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78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baseline="0" dirty="0" smtClean="0">
                <a:solidFill>
                  <a:srgbClr val="365F91"/>
                </a:solidFill>
                <a:latin typeface="Times New Roman"/>
              </a:rPr>
              <a:t>Key Features: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R="0" lvl="0" rtl="0"/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Guest Registration</a:t>
            </a:r>
            <a:r>
              <a:rPr lang="en-US" b="1" i="0" u="none" strike="noStrike" baseline="0" dirty="0" smtClean="0">
                <a:latin typeface="Times New Roman"/>
              </a:rPr>
              <a:t>: Allows staff to record guest details such as name, phone number, and email. Each guest is assigned a unique ID for future reference.</a:t>
            </a:r>
          </a:p>
          <a:p>
            <a:pPr marR="0" lvl="0" rtl="0"/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Room Management</a:t>
            </a:r>
            <a:r>
              <a:rPr lang="en-US" b="1" i="0" u="none" strike="noStrike" baseline="0" dirty="0" smtClean="0">
                <a:latin typeface="Times New Roman"/>
              </a:rPr>
              <a:t>: Displays all rooms in the hotel along with their type, price per night, and current status (available or booked). Staff can update room status automatically when a room is reserved.</a:t>
            </a:r>
          </a:p>
          <a:p>
            <a:pPr marR="0" lvl="0" rtl="0"/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Reservation System</a:t>
            </a:r>
            <a:r>
              <a:rPr lang="en-US" b="1" i="0" u="none" strike="noStrike" baseline="0" dirty="0" smtClean="0">
                <a:latin typeface="Times New Roman"/>
              </a:rPr>
              <a:t>: Enables booking of rooms by guests. Staff can select a guest, choose a room, enter check-in and check-out dates, and specify the number of guests.</a:t>
            </a:r>
          </a:p>
          <a:p>
            <a:pPr marR="0" lvl="0" rtl="0"/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Automated Status Update</a:t>
            </a:r>
            <a:r>
              <a:rPr lang="en-US" b="1" i="0" u="none" strike="noStrike" baseline="0" dirty="0" smtClean="0">
                <a:latin typeface="Times New Roman"/>
              </a:rPr>
              <a:t>: When a room is booked, its status changes to “booked,” preventing double bookings.</a:t>
            </a:r>
          </a:p>
          <a:p>
            <a:pPr marR="0" lvl="0" rtl="0"/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Reporting &amp; Monitoring</a:t>
            </a:r>
            <a:r>
              <a:rPr lang="en-US" b="1" i="0" u="none" strike="noStrike" baseline="0" dirty="0" smtClean="0">
                <a:latin typeface="Times New Roman"/>
              </a:rPr>
              <a:t>: Provides an organized table view of rooms and reservations, allowing easy monitoring of room occupancy and guest details.</a:t>
            </a:r>
          </a:p>
        </p:txBody>
      </p:sp>
    </p:spTree>
    <p:extLst>
      <p:ext uri="{BB962C8B-B14F-4D97-AF65-F5344CB8AC3E}">
        <p14:creationId xmlns:p14="http://schemas.microsoft.com/office/powerpoint/2010/main" val="273782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baseline="0" smtClean="0">
                <a:solidFill>
                  <a:srgbClr val="365F91"/>
                </a:solidFill>
                <a:latin typeface="Times New Roman"/>
              </a:rPr>
              <a:t>Objectives: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Streamline the reservation process for both staff and guests.</a:t>
            </a:r>
          </a:p>
          <a:p>
            <a:r>
              <a:rPr lang="en-US" dirty="0" smtClean="0"/>
              <a:t>Minimize booking errors and double bookings.</a:t>
            </a:r>
          </a:p>
          <a:p>
            <a:r>
              <a:rPr lang="en-US" dirty="0" smtClean="0"/>
              <a:t>Maintain organized records of guests and room availability.</a:t>
            </a:r>
          </a:p>
          <a:p>
            <a:r>
              <a:rPr lang="en-US" dirty="0" smtClean="0"/>
              <a:t>Improve overall efficiency in hotel management operations.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Technologies 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Used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: </a:t>
            </a:r>
          </a:p>
          <a:p>
            <a:r>
              <a:rPr lang="en-US" b="1" dirty="0" smtClean="0"/>
              <a:t>Backend:</a:t>
            </a:r>
            <a:r>
              <a:rPr lang="en-US" dirty="0" smtClean="0"/>
              <a:t> PHP, MySQL</a:t>
            </a:r>
          </a:p>
          <a:p>
            <a:r>
              <a:rPr lang="en-US" b="1" dirty="0" smtClean="0"/>
              <a:t>Frontend:</a:t>
            </a:r>
            <a:r>
              <a:rPr lang="en-US" dirty="0" smtClean="0"/>
              <a:t> HTML, CSS</a:t>
            </a:r>
          </a:p>
          <a:p>
            <a:pPr marR="0" lvl="0" rtl="0"/>
            <a:endParaRPr lang="en-US" b="1" i="0" u="none" strike="noStrike" baseline="0" dirty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181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76200"/>
            <a:ext cx="4530533" cy="64812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57200"/>
            <a:ext cx="1557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ER DIAGRAM</a:t>
            </a:r>
            <a:r>
              <a:rPr lang="en-US" dirty="0" smtClean="0">
                <a:solidFill>
                  <a:schemeClr val="accent1"/>
                </a:solidFill>
              </a:rPr>
              <a:t>: 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22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0"/>
            <a:ext cx="8229600" cy="4906963"/>
          </a:xfrm>
        </p:spPr>
        <p:txBody>
          <a:bodyPr>
            <a:normAutofit fontScale="32500" lnSpcReduction="20000"/>
          </a:bodyPr>
          <a:lstStyle/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1. ROOMTYPE (</a:t>
            </a:r>
            <a:r>
              <a:rPr lang="en-US" b="1" i="0" u="none" strike="noStrike" baseline="0" dirty="0" err="1" smtClean="0"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type_name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price_per_night</a:t>
            </a:r>
            <a:r>
              <a:rPr lang="en-US" b="1" i="0" u="none" strike="noStrike" baseline="0" dirty="0" smtClean="0">
                <a:latin typeface="Times New Roman"/>
              </a:rPr>
              <a:t>, description)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roomtype_id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2. ROOM (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room_number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latin typeface="Times New Roman"/>
              </a:rPr>
              <a:t>, status)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room_id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ROOMTYPE(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  <a:p>
            <a:pPr marR="0" lvl="1" rtl="0"/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3. GUEST (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, name, phone, email)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guest_id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4. RESERVATION (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check_in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check_out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num_guests</a:t>
            </a:r>
            <a:r>
              <a:rPr lang="en-US" b="1" i="0" u="none" strike="noStrike" baseline="0" dirty="0" smtClean="0">
                <a:latin typeface="Times New Roman"/>
              </a:rPr>
              <a:t>, status)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reservation_id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FK1: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guest_id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GUEST(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guest_id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FK2: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room_id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ROOM(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room_id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5. BILLING (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room_charge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service_charge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total_amount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billing_status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billing_id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RESERVATION(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payment_id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6</a:t>
            </a:r>
            <a:r>
              <a:rPr lang="en-US" b="1" i="0" u="none" strike="noStrike" baseline="0" dirty="0" smtClean="0">
                <a:latin typeface="Times New Roman"/>
              </a:rPr>
              <a:t>. PAYMENT (</a:t>
            </a:r>
            <a:r>
              <a:rPr lang="en-US" b="1" i="0" u="none" strike="noStrike" baseline="0" dirty="0" err="1" smtClean="0">
                <a:latin typeface="Times New Roman"/>
              </a:rPr>
              <a:t>payment_id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payment_date</a:t>
            </a:r>
            <a:r>
              <a:rPr lang="en-US" b="1" i="0" u="none" strike="noStrike" baseline="0" dirty="0" smtClean="0">
                <a:latin typeface="Times New Roman"/>
              </a:rPr>
              <a:t>, amount, method)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BILLING(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7. SERVICE (</a:t>
            </a:r>
            <a:r>
              <a:rPr lang="en-US" b="1" i="0" u="none" strike="noStrike" baseline="0" dirty="0" err="1" smtClean="0">
                <a:latin typeface="Times New Roman"/>
              </a:rPr>
              <a:t>service_id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service_type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service_cost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service_date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service_id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RESERVATION(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8. EMPLOYEE (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, name, role, phone)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employee_id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9. HOUSEKEEPING (</a:t>
            </a:r>
            <a:r>
              <a:rPr lang="en-US" b="1" i="0" u="none" strike="noStrike" baseline="0" dirty="0" err="1" smtClean="0">
                <a:latin typeface="Times New Roman"/>
              </a:rPr>
              <a:t>hk_id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task_status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updated_date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hk_id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FK1: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room_id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ROOM(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room_id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FK2: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EMPLOYEE(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  <a:p>
            <a:pPr marR="0" lvl="1" rtl="0"/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10. USERACCOUNT (</a:t>
            </a:r>
            <a:r>
              <a:rPr lang="en-US" b="1" i="0" u="none" strike="noStrike" baseline="0" dirty="0" err="1" smtClean="0">
                <a:latin typeface="Times New Roman"/>
              </a:rPr>
              <a:t>user_id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, username, password, role)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user_id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EMPLOYEE(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5600" y="228600"/>
            <a:ext cx="1980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Relational schema 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561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337066"/>
            <a:ext cx="8458200" cy="5758934"/>
          </a:xfrm>
        </p:spPr>
        <p:txBody>
          <a:bodyPr>
            <a:normAutofit fontScale="47500" lnSpcReduction="20000"/>
          </a:bodyPr>
          <a:lstStyle/>
          <a:p>
            <a:pPr marR="0" lvl="0" rtl="0"/>
            <a:r>
              <a:rPr lang="en-US" b="1" i="0" u="none" strike="noStrike" kern="1800" baseline="0" dirty="0" smtClean="0">
                <a:latin typeface="Times New Roman"/>
              </a:rPr>
              <a:t>1. </a:t>
            </a:r>
            <a:r>
              <a:rPr lang="en-US" b="1" i="0" u="none" strike="noStrike" kern="1800" baseline="0" dirty="0" smtClean="0">
                <a:solidFill>
                  <a:schemeClr val="accent1"/>
                </a:solidFill>
                <a:latin typeface="Times New Roman"/>
              </a:rPr>
              <a:t>ROOMTYPE</a:t>
            </a:r>
          </a:p>
          <a:p>
            <a:pPr marL="457200" marR="0" lvl="1" indent="0" rtl="0">
              <a:buNone/>
            </a:pPr>
            <a:r>
              <a:rPr lang="en-US" sz="2000" b="1" i="0" u="none" strike="noStrike" baseline="0" dirty="0" smtClean="0">
                <a:latin typeface="Times New Roman"/>
              </a:rPr>
              <a:t>1NF:</a:t>
            </a:r>
            <a:r>
              <a:rPr lang="en-US" sz="2000" b="1" i="0" u="none" strike="noStrike" dirty="0" smtClean="0">
                <a:latin typeface="Times New Roman"/>
              </a:rPr>
              <a:t> </a:t>
            </a:r>
            <a:r>
              <a:rPr lang="en-US" sz="2000" b="1" i="0" u="none" strike="noStrike" baseline="0" dirty="0" smtClean="0">
                <a:latin typeface="Times New Roman"/>
              </a:rPr>
              <a:t>All </a:t>
            </a:r>
            <a:r>
              <a:rPr lang="en-US" sz="2000" b="1" i="0" u="none" strike="noStrike" baseline="0" dirty="0" smtClean="0">
                <a:latin typeface="Times New Roman"/>
              </a:rPr>
              <a:t>attributes are atomic </a:t>
            </a:r>
          </a:p>
          <a:p>
            <a:pPr marL="457200" marR="0" lvl="1" indent="0" rtl="0">
              <a:buNone/>
            </a:pPr>
            <a:r>
              <a:rPr lang="en-US" sz="2000" b="1" i="0" u="none" strike="noStrike" baseline="0" dirty="0" smtClean="0">
                <a:latin typeface="Times New Roman"/>
              </a:rPr>
              <a:t>2NF:</a:t>
            </a:r>
            <a:r>
              <a:rPr lang="en-US" sz="2000" b="1" i="0" u="none" strike="noStrike" dirty="0" smtClean="0">
                <a:latin typeface="Times New Roman"/>
              </a:rPr>
              <a:t> </a:t>
            </a:r>
            <a:r>
              <a:rPr lang="en-US" sz="2000" b="1" i="0" u="none" strike="noStrike" baseline="0" dirty="0" smtClean="0">
                <a:latin typeface="Times New Roman"/>
              </a:rPr>
              <a:t>PK </a:t>
            </a:r>
            <a:r>
              <a:rPr lang="en-US" sz="2000" b="1" i="0" u="none" strike="noStrike" baseline="0" dirty="0" smtClean="0">
                <a:latin typeface="Times New Roman"/>
              </a:rPr>
              <a:t>= </a:t>
            </a:r>
            <a:r>
              <a:rPr lang="en-US" sz="2000" b="1" i="0" u="none" strike="noStrike" baseline="0" dirty="0" err="1" smtClean="0">
                <a:latin typeface="Times New Roman"/>
              </a:rPr>
              <a:t>roomtype_id</a:t>
            </a:r>
            <a:r>
              <a:rPr lang="en-US" sz="2000" b="1" i="0" u="none" strike="noStrike" baseline="0" dirty="0" smtClean="0">
                <a:latin typeface="Times New Roman"/>
              </a:rPr>
              <a:t> (single attribute) .So  No partial dependency.</a:t>
            </a:r>
          </a:p>
          <a:p>
            <a:pPr marL="457200" marR="0" lvl="1" indent="0" rtl="0">
              <a:buNone/>
            </a:pPr>
            <a:r>
              <a:rPr lang="en-US" sz="2000" b="1" i="0" u="none" strike="noStrike" baseline="0" dirty="0" smtClean="0">
                <a:latin typeface="Times New Roman"/>
              </a:rPr>
              <a:t> 3NF</a:t>
            </a:r>
            <a:r>
              <a:rPr lang="en-US" sz="2000" b="1" dirty="0" smtClean="0">
                <a:latin typeface="Times New Roman"/>
              </a:rPr>
              <a:t>: </a:t>
            </a:r>
            <a:r>
              <a:rPr lang="en-US" sz="2000" b="1" i="0" u="none" strike="noStrike" baseline="0" dirty="0" smtClean="0">
                <a:latin typeface="Times New Roman"/>
              </a:rPr>
              <a:t>No </a:t>
            </a:r>
            <a:r>
              <a:rPr lang="en-US" sz="2000" b="1" i="0" u="none" strike="noStrike" baseline="0" dirty="0" smtClean="0">
                <a:latin typeface="Times New Roman"/>
              </a:rPr>
              <a:t>non-key attribute depends on another non-key attribute.</a:t>
            </a:r>
            <a:br>
              <a:rPr lang="en-US" sz="2000" b="1" i="0" u="none" strike="noStrike" baseline="0" dirty="0" smtClean="0">
                <a:latin typeface="Times New Roman"/>
              </a:rPr>
            </a:br>
            <a:r>
              <a:rPr lang="en-US" sz="2000" b="1" i="0" u="none" strike="noStrike" baseline="0" dirty="0" smtClean="0">
                <a:latin typeface="Times New Roman"/>
              </a:rPr>
              <a:t>(</a:t>
            </a:r>
            <a:r>
              <a:rPr lang="en-US" sz="2000" b="1" i="0" u="none" strike="noStrike" baseline="0" dirty="0" err="1" smtClean="0">
                <a:latin typeface="Times New Roman"/>
              </a:rPr>
              <a:t>type_name</a:t>
            </a:r>
            <a:r>
              <a:rPr lang="en-US" sz="2000" b="1" i="0" u="none" strike="noStrike" baseline="0" dirty="0" smtClean="0">
                <a:latin typeface="Times New Roman"/>
              </a:rPr>
              <a:t> does not determine </a:t>
            </a:r>
            <a:r>
              <a:rPr lang="en-US" sz="2000" b="1" i="0" u="none" strike="noStrike" baseline="0" dirty="0" err="1" smtClean="0">
                <a:latin typeface="Times New Roman"/>
              </a:rPr>
              <a:t>price_per_night</a:t>
            </a:r>
            <a:r>
              <a:rPr lang="en-US" sz="2000" b="1" i="0" u="none" strike="noStrike" baseline="0" dirty="0" smtClean="0">
                <a:latin typeface="Times New Roman"/>
              </a:rPr>
              <a:t>, etc.)</a:t>
            </a:r>
          </a:p>
          <a:p>
            <a:pPr marL="457200" marR="0" lvl="1" indent="0" rtl="0">
              <a:buNone/>
            </a:pPr>
            <a:r>
              <a:rPr lang="en-US" sz="2000" b="1" i="0" u="none" strike="noStrike" baseline="0" dirty="0" smtClean="0">
                <a:latin typeface="Times New Roman"/>
              </a:rPr>
              <a:t>BCNF:</a:t>
            </a:r>
            <a:r>
              <a:rPr lang="en-US" sz="2000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All </a:t>
            </a:r>
            <a:r>
              <a:rPr lang="en-US" b="1" i="0" u="none" strike="noStrike" baseline="0" dirty="0" smtClean="0">
                <a:latin typeface="Times New Roman"/>
              </a:rPr>
              <a:t>determinants are keys.</a:t>
            </a:r>
          </a:p>
          <a:p>
            <a:pPr marR="0" lvl="0" rtl="0"/>
            <a:r>
              <a:rPr lang="en-US" b="1" i="0" u="none" strike="noStrike" kern="1800" baseline="0" dirty="0" smtClean="0">
                <a:latin typeface="Times New Roman"/>
              </a:rPr>
              <a:t>2</a:t>
            </a:r>
            <a:r>
              <a:rPr lang="en-US" b="1" i="0" u="none" strike="noStrike" kern="1800" baseline="0" dirty="0" smtClean="0">
                <a:solidFill>
                  <a:schemeClr val="tx2"/>
                </a:solidFill>
                <a:latin typeface="Times New Roman"/>
              </a:rPr>
              <a:t>. </a:t>
            </a:r>
            <a:r>
              <a:rPr lang="en-US" b="1" i="0" u="none" strike="noStrike" kern="1800" baseline="0" dirty="0" smtClean="0">
                <a:solidFill>
                  <a:schemeClr val="tx2"/>
                </a:solidFill>
                <a:latin typeface="Times New Roman"/>
              </a:rPr>
              <a:t>ROOM</a:t>
            </a:r>
            <a:r>
              <a:rPr lang="en-US" b="1" i="0" u="none" strike="noStrike" baseline="0" dirty="0" smtClean="0">
                <a:solidFill>
                  <a:schemeClr val="tx2"/>
                </a:solidFill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solidFill>
                  <a:schemeClr val="tx2"/>
                </a:solidFill>
                <a:latin typeface="Times New Roman"/>
              </a:rPr>
              <a:t>room_id</a:t>
            </a:r>
            <a:r>
              <a:rPr lang="en-US" b="1" i="0" u="none" strike="noStrike" baseline="0" dirty="0" smtClean="0">
                <a:solidFill>
                  <a:schemeClr val="tx2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tx2"/>
                </a:solidFill>
                <a:latin typeface="Times New Roman"/>
              </a:rPr>
              <a:t>room_number</a:t>
            </a:r>
            <a:r>
              <a:rPr lang="en-US" b="1" i="0" u="none" strike="noStrike" baseline="0" dirty="0" smtClean="0">
                <a:solidFill>
                  <a:schemeClr val="tx2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tx2"/>
                </a:solidFill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solidFill>
                  <a:schemeClr val="tx2"/>
                </a:solidFill>
                <a:latin typeface="Times New Roman"/>
              </a:rPr>
              <a:t>, status)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1NF: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All </a:t>
            </a:r>
            <a:r>
              <a:rPr lang="en-US" b="1" i="0" u="none" strike="noStrike" baseline="0" dirty="0" smtClean="0">
                <a:latin typeface="Times New Roman"/>
              </a:rPr>
              <a:t>atomic 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2NF: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PK </a:t>
            </a:r>
            <a:r>
              <a:rPr lang="en-US" b="1" i="0" u="none" strike="noStrike" baseline="0" dirty="0" smtClean="0">
                <a:latin typeface="Times New Roman"/>
              </a:rPr>
              <a:t>=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 (single attribute) → No partial dependency.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3NF: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No </a:t>
            </a:r>
            <a:r>
              <a:rPr lang="en-US" b="1" i="0" u="none" strike="noStrike" baseline="0" dirty="0" smtClean="0">
                <a:latin typeface="Times New Roman"/>
              </a:rPr>
              <a:t>transitive dependency between non-key attributes.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BCNF: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is the only determinant . So ROOM is in BCNF.</a:t>
            </a:r>
          </a:p>
          <a:p>
            <a:pPr marR="0" lvl="0" rtl="0"/>
            <a:r>
              <a:rPr lang="en-US" b="1" i="0" u="none" strike="noStrike" kern="1800" baseline="0" dirty="0" smtClean="0">
                <a:latin typeface="Times New Roman"/>
              </a:rPr>
              <a:t>3</a:t>
            </a:r>
            <a:r>
              <a:rPr lang="en-US" b="1" i="0" u="none" strike="noStrike" kern="1800" baseline="0" dirty="0" smtClean="0">
                <a:solidFill>
                  <a:schemeClr val="tx2"/>
                </a:solidFill>
                <a:latin typeface="Times New Roman"/>
              </a:rPr>
              <a:t>. </a:t>
            </a:r>
            <a:r>
              <a:rPr lang="en-US" b="1" i="0" u="none" strike="noStrike" kern="1800" baseline="0" dirty="0" smtClean="0">
                <a:solidFill>
                  <a:schemeClr val="tx2"/>
                </a:solidFill>
                <a:latin typeface="Times New Roman"/>
              </a:rPr>
              <a:t>GUEST</a:t>
            </a:r>
            <a:r>
              <a:rPr lang="en-US" b="1" i="0" u="none" strike="noStrike" baseline="0" dirty="0" smtClean="0">
                <a:solidFill>
                  <a:schemeClr val="tx2"/>
                </a:solidFill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solidFill>
                  <a:schemeClr val="tx2"/>
                </a:solidFill>
                <a:latin typeface="Times New Roman"/>
              </a:rPr>
              <a:t>guest_id</a:t>
            </a:r>
            <a:r>
              <a:rPr lang="en-US" b="1" i="0" u="none" strike="noStrike" baseline="0" dirty="0" smtClean="0">
                <a:solidFill>
                  <a:schemeClr val="tx2"/>
                </a:solidFill>
                <a:latin typeface="Times New Roman"/>
              </a:rPr>
              <a:t>, name, phone, email)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Atomic attributes and single-column PK.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So From 1NF to BCNF</a:t>
            </a:r>
            <a:r>
              <a:rPr lang="en-US" b="0" i="0" u="none" strike="noStrike" baseline="0" dirty="0" smtClean="0">
                <a:latin typeface="Times New Roman"/>
              </a:rPr>
              <a:t> satisfied</a:t>
            </a:r>
          </a:p>
          <a:p>
            <a:pPr marR="0" lvl="0" rtl="0"/>
            <a:r>
              <a:rPr lang="en-US" b="1" i="0" u="none" strike="noStrike" kern="1800" baseline="0" dirty="0" smtClean="0">
                <a:latin typeface="Times New Roman"/>
              </a:rPr>
              <a:t>4. </a:t>
            </a:r>
            <a:r>
              <a:rPr lang="en-US" b="1" i="0" u="none" strike="noStrike" kern="1800" baseline="0" dirty="0" smtClean="0">
                <a:solidFill>
                  <a:schemeClr val="accent1"/>
                </a:solidFill>
                <a:latin typeface="Times New Roman"/>
              </a:rPr>
              <a:t>RESERVATION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guest_id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room_id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check_in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check_out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num_guests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status)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1NF</a:t>
            </a:r>
            <a:r>
              <a:rPr lang="en-US" b="1" dirty="0" smtClean="0">
                <a:latin typeface="Times New Roman"/>
              </a:rPr>
              <a:t>: </a:t>
            </a:r>
            <a:r>
              <a:rPr lang="en-US" b="1" i="0" u="none" strike="noStrike" baseline="0" dirty="0" smtClean="0">
                <a:latin typeface="Times New Roman"/>
              </a:rPr>
              <a:t>All </a:t>
            </a:r>
            <a:r>
              <a:rPr lang="en-US" b="1" i="0" u="none" strike="noStrike" baseline="0" dirty="0" smtClean="0">
                <a:latin typeface="Times New Roman"/>
              </a:rPr>
              <a:t>atomic.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2NF: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PK </a:t>
            </a:r>
            <a:r>
              <a:rPr lang="en-US" b="1" i="0" u="none" strike="noStrike" baseline="0" dirty="0" smtClean="0">
                <a:latin typeface="Times New Roman"/>
              </a:rPr>
              <a:t>= 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 → No partial dependency.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3NF: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No </a:t>
            </a:r>
            <a:r>
              <a:rPr lang="en-US" b="1" i="0" u="none" strike="noStrike" baseline="0" dirty="0" smtClean="0">
                <a:latin typeface="Times New Roman"/>
              </a:rPr>
              <a:t>attribute depends on another non-key attribute.</a:t>
            </a:r>
            <a:br>
              <a:rPr lang="en-US" b="1" i="0" u="none" strike="noStrike" baseline="0" dirty="0" smtClean="0">
                <a:latin typeface="Times New Roman"/>
              </a:rPr>
            </a:br>
            <a:r>
              <a:rPr lang="en-US" b="1" i="0" u="none" strike="noStrike" baseline="0" dirty="0" smtClean="0">
                <a:latin typeface="Times New Roman"/>
              </a:rPr>
              <a:t>Example: </a:t>
            </a:r>
            <a:r>
              <a:rPr lang="en-US" b="1" i="0" u="none" strike="noStrike" baseline="0" dirty="0" err="1" smtClean="0">
                <a:latin typeface="Times New Roman"/>
              </a:rPr>
              <a:t>check_in</a:t>
            </a:r>
            <a:r>
              <a:rPr lang="en-US" b="1" i="0" u="none" strike="noStrike" baseline="0" dirty="0" smtClean="0">
                <a:latin typeface="Times New Roman"/>
              </a:rPr>
              <a:t> does not determine </a:t>
            </a:r>
            <a:r>
              <a:rPr lang="en-US" b="1" i="0" u="none" strike="noStrike" baseline="0" dirty="0" err="1" smtClean="0">
                <a:latin typeface="Times New Roman"/>
              </a:rPr>
              <a:t>check_out</a:t>
            </a:r>
            <a:r>
              <a:rPr lang="en-US" b="1" i="0" u="none" strike="noStrike" baseline="0" dirty="0" smtClean="0">
                <a:latin typeface="Times New Roman"/>
              </a:rPr>
              <a:t>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BCNF: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Every </a:t>
            </a:r>
            <a:r>
              <a:rPr lang="en-US" b="1" i="0" u="none" strike="noStrike" baseline="0" dirty="0" smtClean="0">
                <a:latin typeface="Times New Roman"/>
              </a:rPr>
              <a:t>determinant is a candidate key.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So RESERVATION is in BCNF.</a:t>
            </a:r>
          </a:p>
          <a:p>
            <a:pPr marR="0" lvl="0" rtl="0"/>
            <a:r>
              <a:rPr lang="en-US" b="1" i="0" u="none" strike="noStrike" kern="1800" baseline="0" dirty="0" smtClean="0">
                <a:latin typeface="Times New Roman"/>
              </a:rPr>
              <a:t>5. </a:t>
            </a:r>
            <a:r>
              <a:rPr lang="en-US" b="1" i="0" u="none" strike="noStrike" kern="1800" baseline="0" dirty="0" smtClean="0">
                <a:solidFill>
                  <a:schemeClr val="accent1"/>
                </a:solidFill>
                <a:latin typeface="Times New Roman"/>
              </a:rPr>
              <a:t>BILLING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room_charge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service_charge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total_amount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billing_status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1NF:Atomic</a:t>
            </a:r>
            <a:r>
              <a:rPr lang="en-US" b="1" i="0" u="none" strike="noStrike" baseline="0" dirty="0" smtClean="0">
                <a:latin typeface="Times New Roman"/>
              </a:rPr>
              <a:t>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2NF:PK </a:t>
            </a:r>
            <a:r>
              <a:rPr lang="en-US" b="1" i="0" u="none" strike="noStrike" baseline="0" dirty="0" smtClean="0">
                <a:latin typeface="Times New Roman"/>
              </a:rPr>
              <a:t>= 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 → No partial dependency.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3NF: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No </a:t>
            </a:r>
            <a:r>
              <a:rPr lang="en-US" b="1" i="0" u="none" strike="noStrike" baseline="0" dirty="0" smtClean="0">
                <a:latin typeface="Times New Roman"/>
              </a:rPr>
              <a:t>non-key attribute determines another.</a:t>
            </a:r>
            <a:br>
              <a:rPr lang="en-US" b="1" i="0" u="none" strike="noStrike" baseline="0" dirty="0" smtClean="0">
                <a:latin typeface="Times New Roman"/>
              </a:rPr>
            </a:br>
            <a:r>
              <a:rPr lang="en-US" b="1" i="0" u="none" strike="noStrike" baseline="0" dirty="0" err="1" smtClean="0">
                <a:latin typeface="Times New Roman"/>
              </a:rPr>
              <a:t>total_amount</a:t>
            </a:r>
            <a:r>
              <a:rPr lang="en-US" b="1" i="0" u="none" strike="noStrike" baseline="0" dirty="0" smtClean="0">
                <a:latin typeface="Times New Roman"/>
              </a:rPr>
              <a:t> = </a:t>
            </a:r>
            <a:r>
              <a:rPr lang="en-US" b="1" i="0" u="none" strike="noStrike" baseline="0" dirty="0" err="1" smtClean="0">
                <a:latin typeface="Times New Roman"/>
              </a:rPr>
              <a:t>room_charge</a:t>
            </a:r>
            <a:r>
              <a:rPr lang="en-US" b="1" i="0" u="none" strike="noStrike" baseline="0" dirty="0" smtClean="0">
                <a:latin typeface="Times New Roman"/>
              </a:rPr>
              <a:t> + </a:t>
            </a:r>
            <a:r>
              <a:rPr lang="en-US" b="1" i="0" u="none" strike="noStrike" baseline="0" dirty="0" err="1" smtClean="0">
                <a:latin typeface="Times New Roman"/>
              </a:rPr>
              <a:t>service_charge</a:t>
            </a:r>
            <a:r>
              <a:rPr lang="en-US" b="1" i="0" u="none" strike="noStrike" baseline="0" dirty="0" smtClean="0">
                <a:latin typeface="Times New Roman"/>
              </a:rPr>
              <a:t> (derived but not violating 3NF)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BCNF: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is the only determinant.</a:t>
            </a:r>
          </a:p>
          <a:p>
            <a:pPr marL="457200" marR="0" lvl="1" indent="0" rtl="0">
              <a:buNone/>
            </a:pPr>
            <a:r>
              <a:rPr lang="en-US" b="0" i="0" u="none" strike="noStrike" baseline="0" dirty="0" smtClean="0">
                <a:latin typeface="Times New Roman"/>
              </a:rPr>
              <a:t>So </a:t>
            </a:r>
            <a:r>
              <a:rPr lang="en-US" b="1" i="0" u="none" strike="noStrike" baseline="0" dirty="0" smtClean="0">
                <a:latin typeface="Times New Roman"/>
              </a:rPr>
              <a:t>BILLING is in BCNF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.</a:t>
            </a:r>
          </a:p>
          <a:p>
            <a:pPr marR="0" lvl="1" rtl="0"/>
            <a:endParaRPr lang="en-US" b="1" dirty="0">
              <a:solidFill>
                <a:srgbClr val="4F81BD"/>
              </a:solidFill>
              <a:latin typeface="Times New Roman"/>
            </a:endParaRPr>
          </a:p>
          <a:p>
            <a:pPr marR="0" lvl="1" rtl="0"/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R="0" lvl="0" rtl="0"/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62200" y="-76200"/>
            <a:ext cx="232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Normalization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89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228600"/>
            <a:ext cx="8382000" cy="5897563"/>
          </a:xfrm>
        </p:spPr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lang="en-US" b="1" i="0" u="none" strike="noStrike" kern="1800" baseline="0" dirty="0" smtClean="0">
                <a:latin typeface="Times New Roman"/>
              </a:rPr>
              <a:t>6. </a:t>
            </a:r>
            <a:r>
              <a:rPr lang="en-US" b="1" i="0" u="none" strike="noStrike" kern="1800" baseline="0" dirty="0" smtClean="0">
                <a:solidFill>
                  <a:schemeClr val="accent1"/>
                </a:solidFill>
                <a:latin typeface="Times New Roman"/>
              </a:rPr>
              <a:t>PAYMENT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latin typeface="Times New Roman"/>
              </a:rPr>
              <a:t>payment_id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payment_date</a:t>
            </a:r>
            <a:r>
              <a:rPr lang="en-US" b="1" i="0" u="none" strike="noStrike" baseline="0" dirty="0" smtClean="0">
                <a:latin typeface="Times New Roman"/>
              </a:rPr>
              <a:t>, amount, method)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one PK, no transitive dependencies.</a:t>
            </a:r>
          </a:p>
          <a:p>
            <a:pPr marL="0" lvl="0" indent="0">
              <a:buNone/>
            </a:pPr>
            <a:r>
              <a:rPr lang="en-US" b="1" i="0" u="none" strike="noStrike" kern="1800" baseline="0" dirty="0" smtClean="0">
                <a:latin typeface="Times New Roman"/>
              </a:rPr>
              <a:t>7</a:t>
            </a:r>
            <a:r>
              <a:rPr lang="en-US" b="1" i="0" u="none" strike="noStrike" kern="1800" baseline="0" dirty="0" smtClean="0">
                <a:solidFill>
                  <a:schemeClr val="accent1"/>
                </a:solidFill>
                <a:latin typeface="Times New Roman"/>
              </a:rPr>
              <a:t>. SERVICE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latin typeface="Times New Roman"/>
              </a:rPr>
              <a:t>service_id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service_type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service_cost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service_date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Fully atomic, single-column PK.</a:t>
            </a:r>
          </a:p>
          <a:p>
            <a:pPr marL="0" lvl="0" indent="0">
              <a:buNone/>
            </a:pPr>
            <a:r>
              <a:rPr lang="en-US" b="1" i="0" u="none" strike="noStrike" kern="1800" baseline="0" dirty="0" smtClean="0">
                <a:latin typeface="Times New Roman"/>
              </a:rPr>
              <a:t> 8. </a:t>
            </a:r>
            <a:r>
              <a:rPr lang="en-US" b="1" i="0" u="none" strike="noStrike" kern="1800" baseline="0" dirty="0" smtClean="0">
                <a:solidFill>
                  <a:schemeClr val="accent1"/>
                </a:solidFill>
                <a:latin typeface="Times New Roman"/>
              </a:rPr>
              <a:t>EMPLOYEE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, name, role, phone)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All attributes are atomic.</a:t>
            </a:r>
            <a:br>
              <a:rPr lang="en-US" b="1" i="0" u="none" strike="noStrike" baseline="0" dirty="0" smtClean="0">
                <a:latin typeface="Times New Roman"/>
              </a:rPr>
            </a:br>
            <a:r>
              <a:rPr lang="en-US" b="1" i="0" u="none" strike="noStrike" baseline="0" dirty="0" smtClean="0">
                <a:latin typeface="Times New Roman"/>
              </a:rPr>
              <a:t>No functional dependencies except 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 </a:t>
            </a:r>
          </a:p>
          <a:p>
            <a:pPr marL="0" lvl="0" indent="0">
              <a:buNone/>
            </a:pPr>
            <a:r>
              <a:rPr lang="en-US" b="1" i="0" u="none" strike="noStrike" kern="1800" baseline="0" dirty="0" smtClean="0">
                <a:latin typeface="Times New Roman"/>
              </a:rPr>
              <a:t> 9</a:t>
            </a:r>
            <a:r>
              <a:rPr lang="en-US" b="1" i="0" u="none" strike="noStrike" kern="1800" baseline="0" dirty="0" smtClean="0">
                <a:solidFill>
                  <a:schemeClr val="accent1"/>
                </a:solidFill>
                <a:latin typeface="Times New Roman"/>
              </a:rPr>
              <a:t>. HOUSEKEEPING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latin typeface="Times New Roman"/>
              </a:rPr>
              <a:t>hk_id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task_status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updated_date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Single-column PK, no nested dependencies.</a:t>
            </a:r>
          </a:p>
          <a:p>
            <a:pPr marL="0" lvl="0" indent="0">
              <a:buNone/>
            </a:pPr>
            <a:r>
              <a:rPr lang="en-US" b="1" i="0" u="none" strike="noStrike" kern="1800" baseline="0" dirty="0" smtClean="0">
                <a:latin typeface="Times New Roman"/>
              </a:rPr>
              <a:t>10. </a:t>
            </a:r>
            <a:r>
              <a:rPr lang="en-US" b="1" i="0" u="none" strike="noStrike" kern="1800" baseline="0" dirty="0" smtClean="0">
                <a:solidFill>
                  <a:schemeClr val="accent1"/>
                </a:solidFill>
                <a:latin typeface="Times New Roman"/>
              </a:rPr>
              <a:t>USERACCOUNT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latin typeface="Times New Roman"/>
              </a:rPr>
              <a:t>user_id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, username, password, role)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1NF:Atomic.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2NF: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PK = </a:t>
            </a:r>
            <a:r>
              <a:rPr lang="en-US" b="1" i="0" u="none" strike="noStrike" baseline="0" dirty="0" err="1" smtClean="0">
                <a:latin typeface="Times New Roman"/>
              </a:rPr>
              <a:t>user_id</a:t>
            </a:r>
            <a:r>
              <a:rPr lang="en-US" b="1" i="0" u="none" strike="noStrike" baseline="0" dirty="0" smtClean="0">
                <a:latin typeface="Times New Roman"/>
              </a:rPr>
              <a:t> → No partial dependency.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3NF:Employee_id → employee role is already stored in EMPLOYEE,</a:t>
            </a:r>
            <a:br>
              <a:rPr lang="en-US" b="1" i="0" u="none" strike="noStrike" baseline="0" dirty="0" smtClean="0">
                <a:latin typeface="Times New Roman"/>
              </a:rPr>
            </a:br>
            <a:r>
              <a:rPr lang="en-US" b="1" i="0" u="none" strike="noStrike" baseline="0" dirty="0" smtClean="0">
                <a:latin typeface="Times New Roman"/>
              </a:rPr>
              <a:t>But here "role" means system role (admin, staff) → no conflict.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BCNF: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err="1" smtClean="0">
                <a:latin typeface="Times New Roman"/>
              </a:rPr>
              <a:t>user_id</a:t>
            </a:r>
            <a:r>
              <a:rPr lang="en-US" b="1" i="0" u="none" strike="noStrike" baseline="0" dirty="0" smtClean="0">
                <a:latin typeface="Times New Roman"/>
              </a:rPr>
              <a:t> is only determinant.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49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-28575"/>
            <a:ext cx="7924800" cy="639762"/>
          </a:xfrm>
        </p:spPr>
        <p:txBody>
          <a:bodyPr>
            <a:normAutofit fontScale="90000"/>
          </a:bodyPr>
          <a:lstStyle/>
          <a:p>
            <a:pPr marR="0" rtl="0"/>
            <a:r>
              <a:rPr lang="en-US" b="1" i="0" u="none" strike="noStrike" baseline="0" dirty="0" smtClean="0">
                <a:solidFill>
                  <a:srgbClr val="365F91"/>
                </a:solidFill>
                <a:latin typeface="Times New Roman"/>
              </a:rPr>
              <a:t>SQL query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533400"/>
            <a:ext cx="8610600" cy="6324599"/>
          </a:xfrm>
        </p:spPr>
        <p:txBody>
          <a:bodyPr>
            <a:normAutofit fontScale="32500" lnSpcReduction="20000"/>
          </a:bodyPr>
          <a:lstStyle/>
          <a:p>
            <a:pPr marL="0" marR="0" lvl="0" indent="0" rtl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GUEST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guest (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name VARCHAR(100)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phone VARCHAR(20),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email VARCHAR(100)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ROOMTYP</a:t>
            </a:r>
            <a:r>
              <a:rPr lang="en-US" b="1" i="0" u="none" strike="noStrike" baseline="0" dirty="0" smtClean="0">
                <a:latin typeface="Times New Roman"/>
              </a:rPr>
              <a:t>E</a:t>
            </a:r>
            <a:endParaRPr lang="en-US" b="1" i="0" u="none" strike="noStrike" baseline="0" dirty="0" smtClean="0">
              <a:latin typeface="Times New Roman"/>
            </a:endParaRP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</a:t>
            </a:r>
            <a:r>
              <a:rPr lang="en-US" b="1" i="0" u="none" strike="noStrike" baseline="0" dirty="0" err="1" smtClean="0">
                <a:latin typeface="Times New Roman"/>
              </a:rPr>
              <a:t>roomtype</a:t>
            </a:r>
            <a:r>
              <a:rPr lang="en-US" b="1" i="0" u="none" strike="noStrike" baseline="0" dirty="0" smtClean="0">
                <a:latin typeface="Times New Roman"/>
              </a:rPr>
              <a:t> (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type_name</a:t>
            </a:r>
            <a:r>
              <a:rPr lang="en-US" b="1" i="0" u="none" strike="noStrike" baseline="0" dirty="0" smtClean="0">
                <a:latin typeface="Times New Roman"/>
              </a:rPr>
              <a:t> VARCHAR(50)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price_per_night</a:t>
            </a:r>
            <a:r>
              <a:rPr lang="en-US" b="1" i="0" u="none" strike="noStrike" baseline="0" dirty="0" smtClean="0">
                <a:latin typeface="Times New Roman"/>
              </a:rPr>
              <a:t> DOUBLE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description VARCHAR(255)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ROOM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</a:t>
            </a:r>
            <a:r>
              <a:rPr lang="en-US" b="1" i="0" u="none" strike="noStrike" baseline="0" dirty="0" smtClean="0">
                <a:latin typeface="Times New Roman"/>
              </a:rPr>
              <a:t>TABLE room (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room_number</a:t>
            </a:r>
            <a:r>
              <a:rPr lang="en-US" b="1" i="0" u="none" strike="noStrike" baseline="0" dirty="0" smtClean="0">
                <a:latin typeface="Times New Roman"/>
              </a:rPr>
              <a:t> VARCHAR(10)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status ENUM('</a:t>
            </a:r>
            <a:r>
              <a:rPr lang="en-US" b="1" i="0" u="none" strike="noStrike" baseline="0" dirty="0" err="1" smtClean="0">
                <a:latin typeface="Times New Roman"/>
              </a:rPr>
              <a:t>available','booked</a:t>
            </a:r>
            <a:r>
              <a:rPr lang="en-US" b="1" i="0" u="none" strike="noStrike" baseline="0" dirty="0" smtClean="0">
                <a:latin typeface="Times New Roman"/>
              </a:rPr>
              <a:t>') DEFAULT 'available',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latin typeface="Times New Roman"/>
              </a:rPr>
              <a:t>) REFERENCES </a:t>
            </a:r>
            <a:r>
              <a:rPr lang="en-US" b="1" i="0" u="none" strike="noStrike" baseline="0" dirty="0" err="1" smtClean="0">
                <a:latin typeface="Times New Roman"/>
              </a:rPr>
              <a:t>roomtype</a:t>
            </a:r>
            <a:r>
              <a:rPr lang="en-US" b="1" i="0" u="none" strike="noStrike" baseline="0" dirty="0" smtClean="0"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RESERVATION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</a:t>
            </a:r>
            <a:r>
              <a:rPr lang="en-US" b="1" i="0" u="none" strike="noStrike" baseline="0" dirty="0" smtClean="0">
                <a:latin typeface="Times New Roman"/>
              </a:rPr>
              <a:t>TABLE reservation (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check_in</a:t>
            </a:r>
            <a:r>
              <a:rPr lang="en-US" b="1" i="0" u="none" strike="noStrike" baseline="0" dirty="0" smtClean="0">
                <a:latin typeface="Times New Roman"/>
              </a:rPr>
              <a:t> DATE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check_out</a:t>
            </a:r>
            <a:r>
              <a:rPr lang="en-US" b="1" i="0" u="none" strike="noStrike" baseline="0" dirty="0" smtClean="0">
                <a:latin typeface="Times New Roman"/>
              </a:rPr>
              <a:t> DATE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num_guests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status ENUM('</a:t>
            </a:r>
            <a:r>
              <a:rPr lang="en-US" b="1" i="0" u="none" strike="noStrike" baseline="0" dirty="0" err="1" smtClean="0">
                <a:latin typeface="Times New Roman"/>
              </a:rPr>
              <a:t>confirmed','cancelled</a:t>
            </a:r>
            <a:r>
              <a:rPr lang="en-US" b="1" i="0" u="none" strike="noStrike" baseline="0" dirty="0" smtClean="0">
                <a:latin typeface="Times New Roman"/>
              </a:rPr>
              <a:t>') DEFAULT 'confirmed',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) REFERENCES guest(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),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) REFERENCES room(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BILLING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billing (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room_charge</a:t>
            </a:r>
            <a:r>
              <a:rPr lang="en-US" b="1" i="0" u="none" strike="noStrike" baseline="0" dirty="0" smtClean="0">
                <a:latin typeface="Times New Roman"/>
              </a:rPr>
              <a:t> DOUBLE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service_charge</a:t>
            </a:r>
            <a:r>
              <a:rPr lang="en-US" b="1" i="0" u="none" strike="noStrike" baseline="0" dirty="0" smtClean="0">
                <a:latin typeface="Times New Roman"/>
              </a:rPr>
              <a:t> DOUBLE DEFAULT 0,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total_amount</a:t>
            </a:r>
            <a:r>
              <a:rPr lang="en-US" b="1" i="0" u="none" strike="noStrike" baseline="0" dirty="0" smtClean="0">
                <a:latin typeface="Times New Roman"/>
              </a:rPr>
              <a:t> DOUBLE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billing_status</a:t>
            </a:r>
            <a:r>
              <a:rPr lang="en-US" b="1" i="0" u="none" strike="noStrike" baseline="0" dirty="0" smtClean="0">
                <a:latin typeface="Times New Roman"/>
              </a:rPr>
              <a:t> ENUM('</a:t>
            </a:r>
            <a:r>
              <a:rPr lang="en-US" b="1" i="0" u="none" strike="noStrike" baseline="0" dirty="0" err="1" smtClean="0">
                <a:latin typeface="Times New Roman"/>
              </a:rPr>
              <a:t>paid','unpaid</a:t>
            </a:r>
            <a:r>
              <a:rPr lang="en-US" b="1" i="0" u="none" strike="noStrike" baseline="0" dirty="0" smtClean="0">
                <a:latin typeface="Times New Roman"/>
              </a:rPr>
              <a:t>') DEFAULT 'unpaid',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) REFERENCES reservation(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0" marR="0" lvl="0" indent="0" rtl="0">
              <a:buNone/>
            </a:pPr>
            <a:endParaRPr lang="en-US" b="1" i="0" u="none" strike="noStrike" baseline="0" dirty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7970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685800"/>
            <a:ext cx="8229600" cy="5897563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PAYMENT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payment (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payment_id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payment_date</a:t>
            </a:r>
            <a:r>
              <a:rPr lang="en-US" b="1" i="0" u="none" strike="noStrike" baseline="0" dirty="0" smtClean="0">
                <a:latin typeface="Times New Roman"/>
              </a:rPr>
              <a:t> DATE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amount DOUBLE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method ENUM('</a:t>
            </a:r>
            <a:r>
              <a:rPr lang="en-US" b="1" i="0" u="none" strike="noStrike" baseline="0" dirty="0" err="1" smtClean="0">
                <a:latin typeface="Times New Roman"/>
              </a:rPr>
              <a:t>cash','card','online</a:t>
            </a:r>
            <a:r>
              <a:rPr lang="en-US" b="1" i="0" u="none" strike="noStrike" baseline="0" dirty="0" smtClean="0">
                <a:latin typeface="Times New Roman"/>
              </a:rPr>
              <a:t>'),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) REFERENCES billing(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457200" lvl="1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EMPLOYEE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employee (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name VARCHAR(100)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role VARCHAR(50),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phone VARCHAR(20)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457200" lvl="1" indent="0">
              <a:buNone/>
            </a:pPr>
            <a:endParaRPr lang="en-US" b="1" dirty="0">
              <a:latin typeface="Times New Roman"/>
            </a:endParaRPr>
          </a:p>
          <a:p>
            <a:pPr marL="457200" lvl="1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USERACCOUNT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</a:t>
            </a:r>
            <a:r>
              <a:rPr lang="en-US" b="1" i="0" u="none" strike="noStrike" baseline="0" dirty="0" err="1" smtClean="0">
                <a:latin typeface="Times New Roman"/>
              </a:rPr>
              <a:t>useraccount</a:t>
            </a:r>
            <a:r>
              <a:rPr lang="en-US" b="1" i="0" u="none" strike="noStrike" baseline="0" dirty="0" smtClean="0">
                <a:latin typeface="Times New Roman"/>
              </a:rPr>
              <a:t> (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user_id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username VARCHAR(50) NOT NULL UNIQUE,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password VARCHAR(255)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role VARCHAR(50),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) REFERENCES employee(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457200" lvl="1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SERVICE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service (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service_id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service_type</a:t>
            </a:r>
            <a:r>
              <a:rPr lang="en-US" b="1" i="0" u="none" strike="noStrike" baseline="0" dirty="0" smtClean="0">
                <a:latin typeface="Times New Roman"/>
              </a:rPr>
              <a:t> VARCHAR(50),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service_cost</a:t>
            </a:r>
            <a:r>
              <a:rPr lang="en-US" b="1" i="0" u="none" strike="noStrike" baseline="0" dirty="0" smtClean="0">
                <a:latin typeface="Times New Roman"/>
              </a:rPr>
              <a:t> DOUBLE,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service_date</a:t>
            </a:r>
            <a:r>
              <a:rPr lang="en-US" b="1" i="0" u="none" strike="noStrike" baseline="0" dirty="0" smtClean="0">
                <a:latin typeface="Times New Roman"/>
              </a:rPr>
              <a:t> DATE,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) REFERENCES reservation(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457200" lvl="1" indent="0">
              <a:buNone/>
            </a:pPr>
            <a:endParaRPr lang="en-US" b="1" dirty="0">
              <a:latin typeface="Times New Roman"/>
            </a:endParaRPr>
          </a:p>
          <a:p>
            <a:pPr marL="457200" lvl="1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HOUSEKEEPING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housekeeping (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hk_id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task_status</a:t>
            </a:r>
            <a:r>
              <a:rPr lang="en-US" b="1" i="0" u="none" strike="noStrike" baseline="0" dirty="0" smtClean="0">
                <a:latin typeface="Times New Roman"/>
              </a:rPr>
              <a:t> ENUM('</a:t>
            </a:r>
            <a:r>
              <a:rPr lang="en-US" b="1" i="0" u="none" strike="noStrike" baseline="0" dirty="0" err="1" smtClean="0">
                <a:latin typeface="Times New Roman"/>
              </a:rPr>
              <a:t>pending','completed</a:t>
            </a:r>
            <a:r>
              <a:rPr lang="en-US" b="1" i="0" u="none" strike="noStrike" baseline="0" dirty="0" smtClean="0">
                <a:latin typeface="Times New Roman"/>
              </a:rPr>
              <a:t>') DEFAULT 'pending',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updated_date</a:t>
            </a:r>
            <a:r>
              <a:rPr lang="en-US" b="1" i="0" u="none" strike="noStrike" baseline="0" dirty="0" smtClean="0">
                <a:latin typeface="Times New Roman"/>
              </a:rPr>
              <a:t> DATE,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) REFERENCES room(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),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) REFERENCES employee(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83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" y="609600"/>
            <a:ext cx="8229600" cy="5287963"/>
          </a:xfrm>
        </p:spPr>
        <p:txBody>
          <a:bodyPr>
            <a:normAutofit fontScale="32500" lnSpcReduction="20000"/>
          </a:bodyPr>
          <a:lstStyle/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HTML: 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&lt;!DOCTYPE html&gt;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&lt;html </a:t>
            </a:r>
            <a:r>
              <a:rPr lang="en-US" b="1" i="0" u="none" strike="noStrike" baseline="0" dirty="0" err="1" smtClean="0">
                <a:latin typeface="Times New Roman"/>
              </a:rPr>
              <a:t>lang</a:t>
            </a:r>
            <a:r>
              <a:rPr lang="en-US" b="1" i="0" u="none" strike="noStrike" baseline="0" dirty="0" smtClean="0">
                <a:latin typeface="Times New Roman"/>
              </a:rPr>
              <a:t>="en"&gt;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&lt;head&gt;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&lt;meta charset="UTF-8"&gt;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&lt;meta name="viewport" content="width=device-width, initial-scale=1.0"&gt;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&lt;title&gt;Hotel Management System&lt;/title&gt;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&lt;link </a:t>
            </a:r>
            <a:r>
              <a:rPr lang="en-US" b="1" i="0" u="none" strike="noStrike" baseline="0" dirty="0" err="1" smtClean="0">
                <a:latin typeface="Times New Roman"/>
              </a:rPr>
              <a:t>rel</a:t>
            </a:r>
            <a:r>
              <a:rPr lang="en-US" b="1" i="0" u="none" strike="noStrike" baseline="0" dirty="0" smtClean="0">
                <a:latin typeface="Times New Roman"/>
              </a:rPr>
              <a:t>="</a:t>
            </a:r>
            <a:r>
              <a:rPr lang="en-US" b="1" i="0" u="none" strike="noStrike" baseline="0" dirty="0" err="1" smtClean="0">
                <a:latin typeface="Times New Roman"/>
              </a:rPr>
              <a:t>stylesheet</a:t>
            </a:r>
            <a:r>
              <a:rPr lang="en-US" b="1" i="0" u="none" strike="noStrike" baseline="0" dirty="0" smtClean="0">
                <a:latin typeface="Times New Roman"/>
              </a:rPr>
              <a:t>" </a:t>
            </a:r>
            <a:r>
              <a:rPr lang="en-US" b="1" i="0" u="none" strike="noStrike" baseline="0" dirty="0" err="1" smtClean="0">
                <a:latin typeface="Times New Roman"/>
              </a:rPr>
              <a:t>href</a:t>
            </a:r>
            <a:r>
              <a:rPr lang="en-US" b="1" i="0" u="none" strike="noStrike" baseline="0" dirty="0" smtClean="0">
                <a:latin typeface="Times New Roman"/>
              </a:rPr>
              <a:t>="style.css"&gt;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&lt;/head&gt;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&lt;body&gt;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&lt;header&gt;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&lt;h1&gt;Hotel Reservation &amp; Room Management&lt;/h1&gt;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</a:t>
            </a:r>
            <a:r>
              <a:rPr lang="en-US" b="1" i="0" u="none" strike="noStrike" baseline="0" dirty="0" err="1" smtClean="0">
                <a:latin typeface="Times New Roman"/>
              </a:rPr>
              <a:t>nav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&lt;a </a:t>
            </a:r>
            <a:r>
              <a:rPr lang="en-US" b="1" i="0" u="none" strike="noStrike" baseline="0" dirty="0" err="1" smtClean="0">
                <a:latin typeface="Times New Roman"/>
              </a:rPr>
              <a:t>href</a:t>
            </a:r>
            <a:r>
              <a:rPr lang="en-US" b="1" i="0" u="none" strike="noStrike" baseline="0" dirty="0" smtClean="0">
                <a:latin typeface="Times New Roman"/>
              </a:rPr>
              <a:t>="index.html"&gt;Home&lt;/a&gt;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&lt;a </a:t>
            </a:r>
            <a:r>
              <a:rPr lang="en-US" b="1" i="0" u="none" strike="noStrike" baseline="0" dirty="0" err="1" smtClean="0">
                <a:latin typeface="Times New Roman"/>
              </a:rPr>
              <a:t>href</a:t>
            </a:r>
            <a:r>
              <a:rPr lang="en-US" b="1" i="0" u="none" strike="noStrike" baseline="0" dirty="0" smtClean="0">
                <a:latin typeface="Times New Roman"/>
              </a:rPr>
              <a:t>="</a:t>
            </a:r>
            <a:r>
              <a:rPr lang="en-US" b="1" i="0" u="none" strike="noStrike" baseline="0" dirty="0" err="1" smtClean="0">
                <a:latin typeface="Times New Roman"/>
              </a:rPr>
              <a:t>rooms.php</a:t>
            </a:r>
            <a:r>
              <a:rPr lang="en-US" b="1" i="0" u="none" strike="noStrike" baseline="0" dirty="0" smtClean="0">
                <a:latin typeface="Times New Roman"/>
              </a:rPr>
              <a:t>"&gt;Rooms&lt;/a&gt;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&lt;a </a:t>
            </a:r>
            <a:r>
              <a:rPr lang="en-US" b="1" i="0" u="none" strike="noStrike" baseline="0" dirty="0" err="1" smtClean="0">
                <a:latin typeface="Times New Roman"/>
              </a:rPr>
              <a:t>href</a:t>
            </a:r>
            <a:r>
              <a:rPr lang="en-US" b="1" i="0" u="none" strike="noStrike" baseline="0" dirty="0" smtClean="0">
                <a:latin typeface="Times New Roman"/>
              </a:rPr>
              <a:t>="</a:t>
            </a:r>
            <a:r>
              <a:rPr lang="en-US" b="1" i="0" u="none" strike="noStrike" baseline="0" dirty="0" err="1" smtClean="0">
                <a:latin typeface="Times New Roman"/>
              </a:rPr>
              <a:t>guest_register.php</a:t>
            </a:r>
            <a:r>
              <a:rPr lang="en-US" b="1" i="0" u="none" strike="noStrike" baseline="0" dirty="0" smtClean="0">
                <a:latin typeface="Times New Roman"/>
              </a:rPr>
              <a:t>"&gt;Guest Register&lt;/a&gt;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&lt;a </a:t>
            </a:r>
            <a:r>
              <a:rPr lang="en-US" b="1" i="0" u="none" strike="noStrike" baseline="0" dirty="0" err="1" smtClean="0">
                <a:latin typeface="Times New Roman"/>
              </a:rPr>
              <a:t>href</a:t>
            </a:r>
            <a:r>
              <a:rPr lang="en-US" b="1" i="0" u="none" strike="noStrike" baseline="0" dirty="0" smtClean="0">
                <a:latin typeface="Times New Roman"/>
              </a:rPr>
              <a:t>="</a:t>
            </a:r>
            <a:r>
              <a:rPr lang="en-US" b="1" i="0" u="none" strike="noStrike" baseline="0" dirty="0" err="1" smtClean="0">
                <a:latin typeface="Times New Roman"/>
              </a:rPr>
              <a:t>login.php</a:t>
            </a:r>
            <a:r>
              <a:rPr lang="en-US" b="1" i="0" u="none" strike="noStrike" baseline="0" dirty="0" smtClean="0">
                <a:latin typeface="Times New Roman"/>
              </a:rPr>
              <a:t>"&gt;Login&lt;/a&gt;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&lt;/</a:t>
            </a:r>
            <a:r>
              <a:rPr lang="en-US" b="1" i="0" u="none" strike="noStrike" baseline="0" dirty="0" err="1" smtClean="0">
                <a:latin typeface="Times New Roman"/>
              </a:rPr>
              <a:t>nav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&lt;/header&gt;</a:t>
            </a:r>
          </a:p>
          <a:p>
            <a:pPr marL="457200" lvl="1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&lt;main&gt;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&lt;section class="hero"&gt;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&lt;h2&gt;Welcome to Our Hotel&lt;/h2&gt;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&lt;p&gt;Book rooms, manage reservations, and handle billing easily.&lt;/p&gt;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&lt;a </a:t>
            </a:r>
            <a:r>
              <a:rPr lang="en-US" b="1" i="0" u="none" strike="noStrike" baseline="0" dirty="0" err="1" smtClean="0">
                <a:latin typeface="Times New Roman"/>
              </a:rPr>
              <a:t>href</a:t>
            </a:r>
            <a:r>
              <a:rPr lang="en-US" b="1" i="0" u="none" strike="noStrike" baseline="0" dirty="0" smtClean="0">
                <a:latin typeface="Times New Roman"/>
              </a:rPr>
              <a:t>="</a:t>
            </a:r>
            <a:r>
              <a:rPr lang="en-US" b="1" i="0" u="none" strike="noStrike" baseline="0" dirty="0" err="1" smtClean="0">
                <a:latin typeface="Times New Roman"/>
              </a:rPr>
              <a:t>rooms.php</a:t>
            </a:r>
            <a:r>
              <a:rPr lang="en-US" b="1" i="0" u="none" strike="noStrike" baseline="0" dirty="0" smtClean="0">
                <a:latin typeface="Times New Roman"/>
              </a:rPr>
              <a:t>" class="</a:t>
            </a:r>
            <a:r>
              <a:rPr lang="en-US" b="1" i="0" u="none" strike="noStrike" baseline="0" dirty="0" err="1" smtClean="0">
                <a:latin typeface="Times New Roman"/>
              </a:rPr>
              <a:t>btn</a:t>
            </a:r>
            <a:r>
              <a:rPr lang="en-US" b="1" i="0" u="none" strike="noStrike" baseline="0" dirty="0" smtClean="0">
                <a:latin typeface="Times New Roman"/>
              </a:rPr>
              <a:t>"&gt;View Rooms&lt;/a&gt;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&lt;/section&gt;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&lt;/main&gt;</a:t>
            </a:r>
          </a:p>
          <a:p>
            <a:pPr marL="457200" lvl="1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&lt;footer&gt;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&lt;p&gt;&amp;copy; 2025 Hotel Management System&lt;/p&gt;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&lt;/footer&gt;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&lt;/body&gt;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&lt;/html&gt;</a:t>
            </a:r>
          </a:p>
          <a:p>
            <a:pPr marL="457200" lvl="1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47800" y="228600"/>
            <a:ext cx="258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Frontend (HTML and CSS)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01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304800"/>
            <a:ext cx="8229600" cy="45259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1"/>
                </a:solidFill>
              </a:rPr>
              <a:t>CSS:</a:t>
            </a:r>
          </a:p>
          <a:p>
            <a:pPr marL="0" indent="0">
              <a:buNone/>
            </a:pPr>
            <a:r>
              <a:rPr lang="en-US" dirty="0" smtClean="0"/>
              <a:t>body {</a:t>
            </a:r>
          </a:p>
          <a:p>
            <a:pPr marL="0" indent="0">
              <a:buNone/>
            </a:pPr>
            <a:r>
              <a:rPr lang="en-US" dirty="0" smtClean="0"/>
              <a:t>    font-family: Arial, sans-serif;</a:t>
            </a:r>
          </a:p>
          <a:p>
            <a:pPr marL="0" indent="0">
              <a:buNone/>
            </a:pPr>
            <a:r>
              <a:rPr lang="en-US" dirty="0" smtClean="0"/>
              <a:t>    margin: 0;</a:t>
            </a:r>
          </a:p>
          <a:p>
            <a:pPr marL="0" indent="0">
              <a:buNone/>
            </a:pPr>
            <a:r>
              <a:rPr lang="en-US" dirty="0" smtClean="0"/>
              <a:t>    padding: 0;</a:t>
            </a:r>
          </a:p>
          <a:p>
            <a:pPr marL="0" indent="0">
              <a:buNone/>
            </a:pPr>
            <a:r>
              <a:rPr lang="en-US" dirty="0" smtClean="0"/>
              <a:t>    background-color: #f0f0f0;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header {</a:t>
            </a:r>
          </a:p>
          <a:p>
            <a:pPr marL="0" indent="0">
              <a:buNone/>
            </a:pPr>
            <a:r>
              <a:rPr lang="en-US" dirty="0" smtClean="0"/>
              <a:t>    background-color: #34495e;</a:t>
            </a:r>
          </a:p>
          <a:p>
            <a:pPr marL="0" indent="0">
              <a:buNone/>
            </a:pPr>
            <a:r>
              <a:rPr lang="en-US" dirty="0" smtClean="0"/>
              <a:t>    color: white;</a:t>
            </a:r>
          </a:p>
          <a:p>
            <a:pPr marL="0" indent="0">
              <a:buNone/>
            </a:pPr>
            <a:r>
              <a:rPr lang="en-US" dirty="0" smtClean="0"/>
              <a:t>    padding: 20px;</a:t>
            </a:r>
          </a:p>
          <a:p>
            <a:pPr marL="0" indent="0">
              <a:buNone/>
            </a:pPr>
            <a:r>
              <a:rPr lang="en-US" dirty="0" smtClean="0"/>
              <a:t>    text-align: center;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nav</a:t>
            </a:r>
            <a:r>
              <a:rPr lang="en-US" dirty="0" smtClean="0"/>
              <a:t> a {</a:t>
            </a:r>
          </a:p>
          <a:p>
            <a:pPr marL="0" indent="0">
              <a:buNone/>
            </a:pPr>
            <a:r>
              <a:rPr lang="en-US" dirty="0" smtClean="0"/>
              <a:t>    color: white;</a:t>
            </a:r>
          </a:p>
          <a:p>
            <a:pPr marL="0" indent="0">
              <a:buNone/>
            </a:pPr>
            <a:r>
              <a:rPr lang="en-US" dirty="0" smtClean="0"/>
              <a:t>    margin: 0 15px;</a:t>
            </a:r>
          </a:p>
          <a:p>
            <a:pPr marL="0" indent="0">
              <a:buNone/>
            </a:pPr>
            <a:r>
              <a:rPr lang="en-US" dirty="0" smtClean="0"/>
              <a:t>    text-decoration: none;</a:t>
            </a:r>
          </a:p>
          <a:p>
            <a:pPr marL="0" indent="0">
              <a:buNone/>
            </a:pPr>
            <a:r>
              <a:rPr lang="en-US" dirty="0" smtClean="0"/>
              <a:t>    font-weight: bold;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nav</a:t>
            </a:r>
            <a:r>
              <a:rPr lang="en-US" dirty="0" smtClean="0"/>
              <a:t> a:hover {</a:t>
            </a:r>
          </a:p>
          <a:p>
            <a:pPr marL="0" indent="0">
              <a:buNone/>
            </a:pPr>
            <a:r>
              <a:rPr lang="en-US" dirty="0" smtClean="0"/>
              <a:t>    text-decoration: underline;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.hero {</a:t>
            </a:r>
          </a:p>
          <a:p>
            <a:pPr marL="0" indent="0">
              <a:buNone/>
            </a:pPr>
            <a:r>
              <a:rPr lang="en-US" dirty="0" smtClean="0"/>
              <a:t>    text-align: center;</a:t>
            </a:r>
          </a:p>
          <a:p>
            <a:pPr marL="0" indent="0">
              <a:buNone/>
            </a:pPr>
            <a:r>
              <a:rPr lang="en-US" dirty="0" smtClean="0"/>
              <a:t>    margin: 50px;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</a:t>
            </a:r>
            <a:r>
              <a:rPr lang="en-US" dirty="0" err="1" smtClean="0"/>
              <a:t>btn</a:t>
            </a:r>
            <a:r>
              <a:rPr lang="en-US" dirty="0" smtClean="0"/>
              <a:t> {</a:t>
            </a:r>
          </a:p>
          <a:p>
            <a:pPr marL="0" indent="0">
              <a:buNone/>
            </a:pPr>
            <a:r>
              <a:rPr lang="en-US" dirty="0" smtClean="0"/>
              <a:t>    background-color: #e67e22;</a:t>
            </a:r>
          </a:p>
          <a:p>
            <a:pPr marL="0" indent="0">
              <a:buNone/>
            </a:pPr>
            <a:r>
              <a:rPr lang="en-US" dirty="0" smtClean="0"/>
              <a:t>    color: white;</a:t>
            </a:r>
          </a:p>
          <a:p>
            <a:pPr marL="0" indent="0">
              <a:buNone/>
            </a:pPr>
            <a:r>
              <a:rPr lang="en-US" dirty="0" smtClean="0"/>
              <a:t>    padding: 10px 20px;</a:t>
            </a:r>
          </a:p>
          <a:p>
            <a:pPr marL="0" indent="0">
              <a:buNone/>
            </a:pPr>
            <a:r>
              <a:rPr lang="en-US" dirty="0" smtClean="0"/>
              <a:t>    text-decoration: none;</a:t>
            </a:r>
          </a:p>
          <a:p>
            <a:pPr marL="0" indent="0">
              <a:buNone/>
            </a:pPr>
            <a:r>
              <a:rPr lang="en-US" dirty="0" smtClean="0"/>
              <a:t>    border-radius: 5px;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</a:t>
            </a:r>
            <a:r>
              <a:rPr lang="en-US" dirty="0" err="1" smtClean="0"/>
              <a:t>btn:hover</a:t>
            </a:r>
            <a:r>
              <a:rPr lang="en-US" dirty="0" smtClean="0"/>
              <a:t> {</a:t>
            </a:r>
          </a:p>
          <a:p>
            <a:pPr marL="0" indent="0">
              <a:buNone/>
            </a:pPr>
            <a:r>
              <a:rPr lang="en-US" dirty="0" smtClean="0"/>
              <a:t>    background-color: #d35400;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footer {</a:t>
            </a:r>
          </a:p>
          <a:p>
            <a:pPr marL="0" indent="0">
              <a:buNone/>
            </a:pPr>
            <a:r>
              <a:rPr lang="en-US" dirty="0" smtClean="0"/>
              <a:t>    text-align: center;</a:t>
            </a:r>
          </a:p>
          <a:p>
            <a:pPr marL="0" indent="0">
              <a:buNone/>
            </a:pPr>
            <a:r>
              <a:rPr lang="en-US" dirty="0" smtClean="0"/>
              <a:t>    padding: 20px;</a:t>
            </a:r>
          </a:p>
          <a:p>
            <a:pPr marL="0" indent="0">
              <a:buNone/>
            </a:pPr>
            <a:r>
              <a:rPr lang="en-US" dirty="0" smtClean="0"/>
              <a:t>    background-color: #34495e;</a:t>
            </a:r>
          </a:p>
          <a:p>
            <a:pPr marL="0" indent="0">
              <a:buNone/>
            </a:pPr>
            <a:r>
              <a:rPr lang="en-US" dirty="0" smtClean="0"/>
              <a:t>    color: white;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81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0"/>
            <a:ext cx="9079676" cy="342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70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524000"/>
            <a:ext cx="4839375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7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baseline="0" smtClean="0">
                <a:solidFill>
                  <a:srgbClr val="365F91"/>
                </a:solidFill>
                <a:latin typeface="Times New Roman"/>
              </a:rPr>
              <a:t>Backend (PHP + SQL):</a:t>
            </a:r>
            <a:endParaRPr lang="en-US" b="0" i="0" u="none" strike="noStrike" baseline="0" smtClean="0">
              <a:solidFill>
                <a:srgbClr val="365F91"/>
              </a:solidFill>
              <a:latin typeface="Calibri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8229600" cy="4525963"/>
          </a:xfrm>
        </p:spPr>
        <p:txBody>
          <a:bodyPr>
            <a:normAutofit fontScale="25000" lnSpcReduction="20000"/>
          </a:bodyPr>
          <a:lstStyle/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&lt;?</a:t>
            </a:r>
            <a:r>
              <a:rPr lang="en-US" b="1" i="0" u="none" strike="noStrike" baseline="0" dirty="0" err="1" smtClean="0">
                <a:latin typeface="Times New Roman"/>
              </a:rPr>
              <a:t>php</a:t>
            </a:r>
            <a:endParaRPr lang="en-US" b="1" i="0" u="none" strike="noStrike" baseline="0" dirty="0" smtClean="0"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$host = "</a:t>
            </a:r>
            <a:r>
              <a:rPr lang="en-US" b="1" i="0" u="none" strike="noStrike" baseline="0" dirty="0" err="1" smtClean="0">
                <a:latin typeface="Times New Roman"/>
              </a:rPr>
              <a:t>localhost</a:t>
            </a:r>
            <a:r>
              <a:rPr lang="en-US" b="1" i="0" u="none" strike="noStrike" baseline="0" dirty="0" smtClean="0">
                <a:latin typeface="Times New Roman"/>
              </a:rPr>
              <a:t>";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$user = "root";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$pass = "";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$</a:t>
            </a:r>
            <a:r>
              <a:rPr lang="en-US" b="1" i="0" u="none" strike="noStrike" baseline="0" dirty="0" err="1" smtClean="0">
                <a:latin typeface="Times New Roman"/>
              </a:rPr>
              <a:t>db</a:t>
            </a:r>
            <a:r>
              <a:rPr lang="en-US" b="1" i="0" u="none" strike="noStrike" baseline="0" dirty="0" smtClean="0">
                <a:latin typeface="Times New Roman"/>
              </a:rPr>
              <a:t> = "</a:t>
            </a:r>
            <a:r>
              <a:rPr lang="en-US" b="1" i="0" u="none" strike="noStrike" baseline="0" dirty="0" err="1" smtClean="0">
                <a:latin typeface="Times New Roman"/>
              </a:rPr>
              <a:t>hotel_management</a:t>
            </a:r>
            <a:r>
              <a:rPr lang="en-US" b="1" i="0" u="none" strike="noStrike" baseline="0" dirty="0" smtClean="0">
                <a:latin typeface="Times New Roman"/>
              </a:rPr>
              <a:t>";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$</a:t>
            </a:r>
            <a:r>
              <a:rPr lang="en-US" b="1" i="0" u="none" strike="noStrike" baseline="0" dirty="0" smtClean="0">
                <a:latin typeface="Times New Roman"/>
              </a:rPr>
              <a:t>conn = new </a:t>
            </a:r>
            <a:r>
              <a:rPr lang="en-US" b="1" i="0" u="none" strike="noStrike" baseline="0" dirty="0" err="1" smtClean="0">
                <a:latin typeface="Times New Roman"/>
              </a:rPr>
              <a:t>mysqli</a:t>
            </a:r>
            <a:r>
              <a:rPr lang="en-US" b="1" i="0" u="none" strike="noStrike" baseline="0" dirty="0" smtClean="0">
                <a:latin typeface="Times New Roman"/>
              </a:rPr>
              <a:t>($host, $user, $pass, $</a:t>
            </a:r>
            <a:r>
              <a:rPr lang="en-US" b="1" i="0" u="none" strike="noStrike" baseline="0" dirty="0" err="1" smtClean="0">
                <a:latin typeface="Times New Roman"/>
              </a:rPr>
              <a:t>db</a:t>
            </a: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R="0" lvl="0" rtl="0"/>
            <a:endParaRPr lang="en-US" b="1" i="0" u="none" strike="noStrike" baseline="0" dirty="0" smtClean="0"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if </a:t>
            </a:r>
            <a:r>
              <a:rPr lang="en-US" b="1" i="0" u="none" strike="noStrike" baseline="0" dirty="0" smtClean="0">
                <a:latin typeface="Times New Roman"/>
              </a:rPr>
              <a:t>($conn-&gt;</a:t>
            </a:r>
            <a:r>
              <a:rPr lang="en-US" b="1" i="0" u="none" strike="noStrike" baseline="0" dirty="0" err="1" smtClean="0">
                <a:latin typeface="Times New Roman"/>
              </a:rPr>
              <a:t>connect_error</a:t>
            </a:r>
            <a:r>
              <a:rPr lang="en-US" b="1" i="0" u="none" strike="noStrike" baseline="0" dirty="0" smtClean="0">
                <a:latin typeface="Times New Roman"/>
              </a:rPr>
              <a:t>) {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die("Connection failed: " . $conn-&gt;</a:t>
            </a:r>
            <a:r>
              <a:rPr lang="en-US" b="1" i="0" u="none" strike="noStrike" baseline="0" dirty="0" err="1" smtClean="0">
                <a:latin typeface="Times New Roman"/>
              </a:rPr>
              <a:t>connect_error</a:t>
            </a: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}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?&gt;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&lt;?</a:t>
            </a:r>
            <a:r>
              <a:rPr lang="en-US" b="1" i="0" u="none" strike="noStrike" baseline="0" dirty="0" err="1" smtClean="0">
                <a:latin typeface="Times New Roman"/>
              </a:rPr>
              <a:t>php</a:t>
            </a:r>
            <a:endParaRPr lang="en-US" b="1" i="0" u="none" strike="noStrike" baseline="0" dirty="0" smtClean="0"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include '</a:t>
            </a:r>
            <a:r>
              <a:rPr lang="en-US" b="1" i="0" u="none" strike="noStrike" baseline="0" dirty="0" err="1" smtClean="0">
                <a:latin typeface="Times New Roman"/>
              </a:rPr>
              <a:t>db.php</a:t>
            </a:r>
            <a:r>
              <a:rPr lang="en-US" b="1" i="0" u="none" strike="noStrike" baseline="0" dirty="0" smtClean="0">
                <a:latin typeface="Times New Roman"/>
              </a:rPr>
              <a:t>';</a:t>
            </a:r>
          </a:p>
          <a:p>
            <a:pPr marL="0" marR="0" lvl="0" indent="0" rtl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if ($_SERVER['REQUEST_METHOD'] == 'POST') {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$name = $_POST['name'];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$phone = $_POST['phone'];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$email = $_POST['email'];</a:t>
            </a:r>
          </a:p>
          <a:p>
            <a:pPr marL="0" marR="0" lvl="0" indent="0" rtl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</a:t>
            </a:r>
            <a:r>
              <a:rPr lang="en-US" b="1" i="0" u="none" strike="noStrike" baseline="0" dirty="0" err="1" smtClean="0">
                <a:latin typeface="Times New Roman"/>
              </a:rPr>
              <a:t>sql</a:t>
            </a:r>
            <a:r>
              <a:rPr lang="en-US" b="1" i="0" u="none" strike="noStrike" baseline="0" dirty="0" smtClean="0">
                <a:latin typeface="Times New Roman"/>
              </a:rPr>
              <a:t> = "INSERT INTO guest (name, phone, email) VALUES ('$name', '$phone', '$email')";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if ($conn-&gt;query($</a:t>
            </a:r>
            <a:r>
              <a:rPr lang="en-US" b="1" i="0" u="none" strike="noStrike" baseline="0" dirty="0" err="1" smtClean="0">
                <a:latin typeface="Times New Roman"/>
              </a:rPr>
              <a:t>sql</a:t>
            </a:r>
            <a:r>
              <a:rPr lang="en-US" b="1" i="0" u="none" strike="noStrike" baseline="0" dirty="0" smtClean="0">
                <a:latin typeface="Times New Roman"/>
              </a:rPr>
              <a:t>) === TRUE) {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echo "Guest registered successfully!";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} else {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echo "Error: " . $conn-&gt;error;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}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}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?&gt;</a:t>
            </a:r>
          </a:p>
          <a:p>
            <a:pPr marL="0" marR="0" lvl="0" indent="0" rtl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&lt;h2&gt;Guest Registration&lt;/h2&gt;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&lt;form method="POST"&gt;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&lt;input type="text" name="name" placeholder="Name" required&gt;&lt;</a:t>
            </a:r>
            <a:r>
              <a:rPr lang="en-US" b="1" i="0" u="none" strike="noStrike" baseline="0" dirty="0" err="1" smtClean="0">
                <a:latin typeface="Times New Roman"/>
              </a:rPr>
              <a:t>br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&lt;input type="text" name="phone" placeholder="Phone"&gt;&lt;</a:t>
            </a:r>
            <a:r>
              <a:rPr lang="en-US" b="1" i="0" u="none" strike="noStrike" baseline="0" dirty="0" err="1" smtClean="0">
                <a:latin typeface="Times New Roman"/>
              </a:rPr>
              <a:t>br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&lt;input type="email" name="email" placeholder="Email" required&gt;&lt;</a:t>
            </a:r>
            <a:r>
              <a:rPr lang="en-US" b="1" i="0" u="none" strike="noStrike" baseline="0" dirty="0" err="1" smtClean="0">
                <a:latin typeface="Times New Roman"/>
              </a:rPr>
              <a:t>br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&lt;button type="submit"&gt;Register&lt;/button&gt;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&lt;/form&gt;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&lt;?</a:t>
            </a:r>
            <a:r>
              <a:rPr lang="en-US" b="1" i="0" u="none" strike="noStrike" baseline="0" dirty="0" err="1" smtClean="0">
                <a:latin typeface="Times New Roman"/>
              </a:rPr>
              <a:t>php</a:t>
            </a:r>
            <a:endParaRPr lang="en-US" b="1" i="0" u="none" strike="noStrike" baseline="0" dirty="0" smtClean="0"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include '</a:t>
            </a:r>
            <a:r>
              <a:rPr lang="en-US" b="1" i="0" u="none" strike="noStrike" baseline="0" dirty="0" err="1" smtClean="0">
                <a:latin typeface="Times New Roman"/>
              </a:rPr>
              <a:t>db.php</a:t>
            </a:r>
            <a:r>
              <a:rPr lang="en-US" b="1" i="0" u="none" strike="noStrike" baseline="0" dirty="0" smtClean="0">
                <a:latin typeface="Times New Roman"/>
              </a:rPr>
              <a:t>';</a:t>
            </a:r>
          </a:p>
          <a:p>
            <a:pPr marL="0" marR="0" lvl="0" indent="0" rtl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$result = $conn-&gt;query("SELECT </a:t>
            </a:r>
            <a:r>
              <a:rPr lang="en-US" b="1" i="0" u="none" strike="noStrike" baseline="0" dirty="0" err="1" smtClean="0">
                <a:latin typeface="Times New Roman"/>
              </a:rPr>
              <a:t>room.room_id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room.room_number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room.status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roomtype.type_name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roomtype.price_per_night</a:t>
            </a:r>
            <a:r>
              <a:rPr lang="en-US" b="1" i="0" u="none" strike="noStrike" baseline="0" dirty="0" smtClean="0">
                <a:latin typeface="Times New Roman"/>
              </a:rPr>
              <a:t> 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            FROM room 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            JOIN </a:t>
            </a:r>
            <a:r>
              <a:rPr lang="en-US" b="1" i="0" u="none" strike="noStrike" baseline="0" dirty="0" err="1" smtClean="0">
                <a:latin typeface="Times New Roman"/>
              </a:rPr>
              <a:t>roomtype</a:t>
            </a:r>
            <a:r>
              <a:rPr lang="en-US" b="1" i="0" u="none" strike="noStrike" baseline="0" dirty="0" smtClean="0">
                <a:latin typeface="Times New Roman"/>
              </a:rPr>
              <a:t> ON </a:t>
            </a:r>
            <a:r>
              <a:rPr lang="en-US" b="1" i="0" u="none" strike="noStrike" baseline="0" dirty="0" err="1" smtClean="0">
                <a:latin typeface="Times New Roman"/>
              </a:rPr>
              <a:t>room.roomtype_id</a:t>
            </a:r>
            <a:r>
              <a:rPr lang="en-US" b="1" i="0" u="none" strike="noStrike" baseline="0" dirty="0" smtClean="0">
                <a:latin typeface="Times New Roman"/>
              </a:rPr>
              <a:t> = </a:t>
            </a:r>
            <a:r>
              <a:rPr lang="en-US" b="1" i="0" u="none" strike="noStrike" baseline="0" dirty="0" err="1" smtClean="0">
                <a:latin typeface="Times New Roman"/>
              </a:rPr>
              <a:t>roomtype.roomtype_id</a:t>
            </a:r>
            <a:r>
              <a:rPr lang="en-US" b="1" i="0" u="none" strike="noStrike" baseline="0" dirty="0" smtClean="0">
                <a:latin typeface="Times New Roman"/>
              </a:rPr>
              <a:t>");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?&gt;</a:t>
            </a:r>
          </a:p>
          <a:p>
            <a:pPr marR="0" lvl="0" rtl="0"/>
            <a:endParaRPr lang="en-US" b="1" i="0" u="none" strike="noStrike" baseline="0" dirty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950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304800"/>
            <a:ext cx="8229600" cy="4525963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&lt;h2&gt;Rooms&lt;/h2&gt;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&lt;table border="1"&gt;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</a:t>
            </a:r>
            <a:r>
              <a:rPr lang="en-US" b="1" i="0" u="none" strike="noStrike" baseline="0" dirty="0" err="1" smtClean="0">
                <a:latin typeface="Times New Roman"/>
              </a:rPr>
              <a:t>tr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&gt;Room Number&lt;/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&gt;Type&lt;/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&gt;Price/Night&lt;/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&gt;Status&lt;/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&gt;Action&lt;/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&lt;/</a:t>
            </a:r>
            <a:r>
              <a:rPr lang="en-US" b="1" i="0" u="none" strike="noStrike" baseline="0" dirty="0" err="1" smtClean="0">
                <a:latin typeface="Times New Roman"/>
              </a:rPr>
              <a:t>tr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&lt;?</a:t>
            </a:r>
            <a:r>
              <a:rPr lang="en-US" b="1" i="0" u="none" strike="noStrike" baseline="0" dirty="0" err="1" smtClean="0">
                <a:latin typeface="Times New Roman"/>
              </a:rPr>
              <a:t>php</a:t>
            </a:r>
            <a:r>
              <a:rPr lang="en-US" b="1" i="0" u="none" strike="noStrike" baseline="0" dirty="0" smtClean="0">
                <a:latin typeface="Times New Roman"/>
              </a:rPr>
              <a:t> while($row = $result-&gt;</a:t>
            </a:r>
            <a:r>
              <a:rPr lang="en-US" b="1" i="0" u="none" strike="noStrike" baseline="0" dirty="0" err="1" smtClean="0">
                <a:latin typeface="Times New Roman"/>
              </a:rPr>
              <a:t>fetch_assoc</a:t>
            </a:r>
            <a:r>
              <a:rPr lang="en-US" b="1" i="0" u="none" strike="noStrike" baseline="0" dirty="0" smtClean="0">
                <a:latin typeface="Times New Roman"/>
              </a:rPr>
              <a:t>()) { ?&gt;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</a:t>
            </a:r>
            <a:r>
              <a:rPr lang="en-US" b="1" i="0" u="none" strike="noStrike" baseline="0" dirty="0" err="1" smtClean="0">
                <a:latin typeface="Times New Roman"/>
              </a:rPr>
              <a:t>tr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&lt;td&gt;&lt;?= $row['</a:t>
            </a:r>
            <a:r>
              <a:rPr lang="en-US" b="1" i="0" u="none" strike="noStrike" baseline="0" dirty="0" err="1" smtClean="0">
                <a:latin typeface="Times New Roman"/>
              </a:rPr>
              <a:t>room_number</a:t>
            </a:r>
            <a:r>
              <a:rPr lang="en-US" b="1" i="0" u="none" strike="noStrike" baseline="0" dirty="0" smtClean="0">
                <a:latin typeface="Times New Roman"/>
              </a:rPr>
              <a:t>'] ?&gt;&lt;/td&gt;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&lt;td&gt;&lt;?= $row['</a:t>
            </a:r>
            <a:r>
              <a:rPr lang="en-US" b="1" i="0" u="none" strike="noStrike" baseline="0" dirty="0" err="1" smtClean="0">
                <a:latin typeface="Times New Roman"/>
              </a:rPr>
              <a:t>type_name</a:t>
            </a:r>
            <a:r>
              <a:rPr lang="en-US" b="1" i="0" u="none" strike="noStrike" baseline="0" dirty="0" smtClean="0">
                <a:latin typeface="Times New Roman"/>
              </a:rPr>
              <a:t>'] ?&gt;&lt;/td&gt;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&lt;td&gt;&lt;?= $row['</a:t>
            </a:r>
            <a:r>
              <a:rPr lang="en-US" b="1" i="0" u="none" strike="noStrike" baseline="0" dirty="0" err="1" smtClean="0">
                <a:latin typeface="Times New Roman"/>
              </a:rPr>
              <a:t>price_per_night</a:t>
            </a:r>
            <a:r>
              <a:rPr lang="en-US" b="1" i="0" u="none" strike="noStrike" baseline="0" dirty="0" smtClean="0">
                <a:latin typeface="Times New Roman"/>
              </a:rPr>
              <a:t>'] ?&gt;&lt;/td&gt;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&lt;td&gt;&lt;?= $row['status'] ?&gt;&lt;/td&gt;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&lt;td&gt;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&lt;?</a:t>
            </a:r>
            <a:r>
              <a:rPr lang="en-US" b="1" i="0" u="none" strike="noStrike" baseline="0" dirty="0" err="1" smtClean="0">
                <a:latin typeface="Times New Roman"/>
              </a:rPr>
              <a:t>php</a:t>
            </a:r>
            <a:r>
              <a:rPr lang="en-US" b="1" i="0" u="none" strike="noStrike" baseline="0" dirty="0" smtClean="0">
                <a:latin typeface="Times New Roman"/>
              </a:rPr>
              <a:t> if($row['status'] == 'available') { ?&gt;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    &lt;a </a:t>
            </a:r>
            <a:r>
              <a:rPr lang="en-US" b="1" i="0" u="none" strike="noStrike" baseline="0" dirty="0" err="1" smtClean="0">
                <a:latin typeface="Times New Roman"/>
              </a:rPr>
              <a:t>href</a:t>
            </a:r>
            <a:r>
              <a:rPr lang="en-US" b="1" i="0" u="none" strike="noStrike" baseline="0" dirty="0" smtClean="0">
                <a:latin typeface="Times New Roman"/>
              </a:rPr>
              <a:t>="</a:t>
            </a:r>
            <a:r>
              <a:rPr lang="en-US" b="1" i="0" u="none" strike="noStrike" baseline="0" dirty="0" err="1" smtClean="0">
                <a:latin typeface="Times New Roman"/>
              </a:rPr>
              <a:t>reservation.php?room_id</a:t>
            </a:r>
            <a:r>
              <a:rPr lang="en-US" b="1" i="0" u="none" strike="noStrike" baseline="0" dirty="0" smtClean="0">
                <a:latin typeface="Times New Roman"/>
              </a:rPr>
              <a:t>=&lt;?= $row['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'] ?&gt;"&gt;Book&lt;/a&gt;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&lt;?</a:t>
            </a:r>
            <a:r>
              <a:rPr lang="en-US" b="1" i="0" u="none" strike="noStrike" baseline="0" dirty="0" err="1" smtClean="0">
                <a:latin typeface="Times New Roman"/>
              </a:rPr>
              <a:t>php</a:t>
            </a:r>
            <a:r>
              <a:rPr lang="en-US" b="1" i="0" u="none" strike="noStrike" baseline="0" dirty="0" smtClean="0">
                <a:latin typeface="Times New Roman"/>
              </a:rPr>
              <a:t> } else { echo "Booked"; } ?&gt;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&lt;/td&gt;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&lt;/</a:t>
            </a:r>
            <a:r>
              <a:rPr lang="en-US" b="1" i="0" u="none" strike="noStrike" baseline="0" dirty="0" err="1" smtClean="0">
                <a:latin typeface="Times New Roman"/>
              </a:rPr>
              <a:t>tr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&lt;?</a:t>
            </a:r>
            <a:r>
              <a:rPr lang="en-US" b="1" i="0" u="none" strike="noStrike" baseline="0" dirty="0" err="1" smtClean="0">
                <a:latin typeface="Times New Roman"/>
              </a:rPr>
              <a:t>php</a:t>
            </a:r>
            <a:r>
              <a:rPr lang="en-US" b="1" i="0" u="none" strike="noStrike" baseline="0" dirty="0" smtClean="0">
                <a:latin typeface="Times New Roman"/>
              </a:rPr>
              <a:t> } ?&gt;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&lt;/table&gt;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&lt;?</a:t>
            </a:r>
            <a:r>
              <a:rPr lang="en-US" b="1" i="0" u="none" strike="noStrike" baseline="0" dirty="0" err="1" smtClean="0">
                <a:latin typeface="Times New Roman"/>
              </a:rPr>
              <a:t>php</a:t>
            </a:r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include '</a:t>
            </a:r>
            <a:r>
              <a:rPr lang="en-US" b="1" i="0" u="none" strike="noStrike" baseline="0" dirty="0" err="1" smtClean="0">
                <a:latin typeface="Times New Roman"/>
              </a:rPr>
              <a:t>db.php</a:t>
            </a:r>
            <a:r>
              <a:rPr lang="en-US" b="1" i="0" u="none" strike="noStrike" baseline="0" dirty="0" smtClean="0">
                <a:latin typeface="Times New Roman"/>
              </a:rPr>
              <a:t>';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$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 = $_GET['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'];</a:t>
            </a:r>
          </a:p>
          <a:p>
            <a:pPr marL="0" lvl="0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if ($_SERVER['REQUEST_METHOD'] == 'POST') {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 = $_POST['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'];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</a:t>
            </a:r>
            <a:r>
              <a:rPr lang="en-US" b="1" i="0" u="none" strike="noStrike" baseline="0" dirty="0" err="1" smtClean="0">
                <a:latin typeface="Times New Roman"/>
              </a:rPr>
              <a:t>check_in</a:t>
            </a:r>
            <a:r>
              <a:rPr lang="en-US" b="1" i="0" u="none" strike="noStrike" baseline="0" dirty="0" smtClean="0">
                <a:latin typeface="Times New Roman"/>
              </a:rPr>
              <a:t> = $_POST['</a:t>
            </a:r>
            <a:r>
              <a:rPr lang="en-US" b="1" i="0" u="none" strike="noStrike" baseline="0" dirty="0" err="1" smtClean="0">
                <a:latin typeface="Times New Roman"/>
              </a:rPr>
              <a:t>check_in</a:t>
            </a:r>
            <a:r>
              <a:rPr lang="en-US" b="1" i="0" u="none" strike="noStrike" baseline="0" dirty="0" smtClean="0">
                <a:latin typeface="Times New Roman"/>
              </a:rPr>
              <a:t>'];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</a:t>
            </a:r>
            <a:r>
              <a:rPr lang="en-US" b="1" i="0" u="none" strike="noStrike" baseline="0" dirty="0" err="1" smtClean="0">
                <a:latin typeface="Times New Roman"/>
              </a:rPr>
              <a:t>check_out</a:t>
            </a:r>
            <a:r>
              <a:rPr lang="en-US" b="1" i="0" u="none" strike="noStrike" baseline="0" dirty="0" smtClean="0">
                <a:latin typeface="Times New Roman"/>
              </a:rPr>
              <a:t> = $_POST['</a:t>
            </a:r>
            <a:r>
              <a:rPr lang="en-US" b="1" i="0" u="none" strike="noStrike" baseline="0" dirty="0" err="1" smtClean="0">
                <a:latin typeface="Times New Roman"/>
              </a:rPr>
              <a:t>check_out</a:t>
            </a:r>
            <a:r>
              <a:rPr lang="en-US" b="1" i="0" u="none" strike="noStrike" baseline="0" dirty="0" smtClean="0">
                <a:latin typeface="Times New Roman"/>
              </a:rPr>
              <a:t>'];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</a:t>
            </a:r>
            <a:r>
              <a:rPr lang="en-US" b="1" i="0" u="none" strike="noStrike" baseline="0" dirty="0" err="1" smtClean="0">
                <a:latin typeface="Times New Roman"/>
              </a:rPr>
              <a:t>num_guests</a:t>
            </a:r>
            <a:r>
              <a:rPr lang="en-US" b="1" i="0" u="none" strike="noStrike" baseline="0" dirty="0" smtClean="0">
                <a:latin typeface="Times New Roman"/>
              </a:rPr>
              <a:t> = $_POST['</a:t>
            </a:r>
            <a:r>
              <a:rPr lang="en-US" b="1" i="0" u="none" strike="noStrike" baseline="0" dirty="0" err="1" smtClean="0">
                <a:latin typeface="Times New Roman"/>
              </a:rPr>
              <a:t>num_guests</a:t>
            </a:r>
            <a:r>
              <a:rPr lang="en-US" b="1" i="0" u="none" strike="noStrike" baseline="0" dirty="0" smtClean="0">
                <a:latin typeface="Times New Roman"/>
              </a:rPr>
              <a:t>'];</a:t>
            </a:r>
          </a:p>
          <a:p>
            <a:pPr marL="0" lvl="0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</a:t>
            </a:r>
            <a:r>
              <a:rPr lang="en-US" b="1" i="0" u="none" strike="noStrike" baseline="0" dirty="0" err="1" smtClean="0">
                <a:latin typeface="Times New Roman"/>
              </a:rPr>
              <a:t>sql</a:t>
            </a:r>
            <a:r>
              <a:rPr lang="en-US" b="1" i="0" u="none" strike="noStrike" baseline="0" dirty="0" smtClean="0">
                <a:latin typeface="Times New Roman"/>
              </a:rPr>
              <a:t> = "INSERT INTO reservation (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check_in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check_out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num_guests</a:t>
            </a:r>
            <a:r>
              <a:rPr lang="en-US" b="1" i="0" u="none" strike="noStrike" baseline="0" dirty="0" smtClean="0">
                <a:latin typeface="Times New Roman"/>
              </a:rPr>
              <a:t>) 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VALUES ($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, $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, '$</a:t>
            </a:r>
            <a:r>
              <a:rPr lang="en-US" b="1" i="0" u="none" strike="noStrike" baseline="0" dirty="0" err="1" smtClean="0">
                <a:latin typeface="Times New Roman"/>
              </a:rPr>
              <a:t>check_in</a:t>
            </a:r>
            <a:r>
              <a:rPr lang="en-US" b="1" i="0" u="none" strike="noStrike" baseline="0" dirty="0" smtClean="0">
                <a:latin typeface="Times New Roman"/>
              </a:rPr>
              <a:t>', '$</a:t>
            </a:r>
            <a:r>
              <a:rPr lang="en-US" b="1" i="0" u="none" strike="noStrike" baseline="0" dirty="0" err="1" smtClean="0">
                <a:latin typeface="Times New Roman"/>
              </a:rPr>
              <a:t>check_out</a:t>
            </a:r>
            <a:r>
              <a:rPr lang="en-US" b="1" i="0" u="none" strike="noStrike" baseline="0" dirty="0" smtClean="0">
                <a:latin typeface="Times New Roman"/>
              </a:rPr>
              <a:t>', $</a:t>
            </a:r>
            <a:r>
              <a:rPr lang="en-US" b="1" i="0" u="none" strike="noStrike" baseline="0" dirty="0" err="1" smtClean="0">
                <a:latin typeface="Times New Roman"/>
              </a:rPr>
              <a:t>num_guests</a:t>
            </a:r>
            <a:r>
              <a:rPr lang="en-US" b="1" i="0" u="none" strike="noStrike" baseline="0" dirty="0" smtClean="0">
                <a:latin typeface="Times New Roman"/>
              </a:rPr>
              <a:t>)";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$conn-&gt;query("UPDATE room SET status='booked' WHERE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=$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");</a:t>
            </a:r>
          </a:p>
          <a:p>
            <a:pPr marL="0" lvl="0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if ($conn-&gt;query($</a:t>
            </a:r>
            <a:r>
              <a:rPr lang="en-US" b="1" i="0" u="none" strike="noStrike" baseline="0" dirty="0" err="1" smtClean="0">
                <a:latin typeface="Times New Roman"/>
              </a:rPr>
              <a:t>sql</a:t>
            </a:r>
            <a:r>
              <a:rPr lang="en-US" b="1" i="0" u="none" strike="noStrike" baseline="0" dirty="0" smtClean="0">
                <a:latin typeface="Times New Roman"/>
              </a:rPr>
              <a:t>)) {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echo "Reservation successful!";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} else {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echo "Error: " . $conn-&gt;error;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}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}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?&gt;</a:t>
            </a:r>
          </a:p>
          <a:p>
            <a:pPr lvl="0"/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&lt;h2&gt;Book Room&lt;/h2&gt;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&lt;form method="POST"&gt;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&lt;label&gt;Guest ID:&lt;/label&gt;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&lt;input type="number" name="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" required&gt;&lt;</a:t>
            </a:r>
            <a:r>
              <a:rPr lang="en-US" b="1" i="0" u="none" strike="noStrike" baseline="0" dirty="0" err="1" smtClean="0">
                <a:latin typeface="Times New Roman"/>
              </a:rPr>
              <a:t>br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&lt;label&gt;Check-in Date:&lt;/label&gt;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&lt;input type="date" name="</a:t>
            </a:r>
            <a:r>
              <a:rPr lang="en-US" b="1" i="0" u="none" strike="noStrike" baseline="0" dirty="0" err="1" smtClean="0">
                <a:latin typeface="Times New Roman"/>
              </a:rPr>
              <a:t>check_in</a:t>
            </a:r>
            <a:r>
              <a:rPr lang="en-US" b="1" i="0" u="none" strike="noStrike" baseline="0" dirty="0" smtClean="0">
                <a:latin typeface="Times New Roman"/>
              </a:rPr>
              <a:t>" required&gt;&lt;</a:t>
            </a:r>
            <a:r>
              <a:rPr lang="en-US" b="1" i="0" u="none" strike="noStrike" baseline="0" dirty="0" err="1" smtClean="0">
                <a:latin typeface="Times New Roman"/>
              </a:rPr>
              <a:t>br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&lt;label&gt;Check-out Date:&lt;/label&gt;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35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&lt;label&gt;Check-out Date:&lt;/label&gt;</a:t>
            </a:r>
          </a:p>
          <a:p>
            <a:pPr marL="0" indent="0">
              <a:buNone/>
            </a:pPr>
            <a:r>
              <a:rPr lang="en-US" dirty="0" smtClean="0"/>
              <a:t>    &lt;input type="date" name="</a:t>
            </a:r>
            <a:r>
              <a:rPr lang="en-US" dirty="0" err="1" smtClean="0"/>
              <a:t>check_out</a:t>
            </a:r>
            <a:r>
              <a:rPr lang="en-US" dirty="0" smtClean="0"/>
              <a:t>" required&gt;&lt;</a:t>
            </a:r>
            <a:r>
              <a:rPr lang="en-US" dirty="0" err="1" smtClean="0"/>
              <a:t>br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&lt;label&gt;Number of Guests:&lt;/label&gt;</a:t>
            </a:r>
          </a:p>
          <a:p>
            <a:pPr marL="0" indent="0">
              <a:buNone/>
            </a:pPr>
            <a:r>
              <a:rPr lang="en-US" dirty="0" smtClean="0"/>
              <a:t>    &lt;input type="number" name="</a:t>
            </a:r>
            <a:r>
              <a:rPr lang="en-US" dirty="0" err="1" smtClean="0"/>
              <a:t>num_guests</a:t>
            </a:r>
            <a:r>
              <a:rPr lang="en-US" dirty="0" smtClean="0"/>
              <a:t>" required&gt;&lt;</a:t>
            </a:r>
            <a:r>
              <a:rPr lang="en-US" dirty="0" err="1" smtClean="0"/>
              <a:t>br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&lt;button type="submit"&gt;Book Room&lt;/button&gt;</a:t>
            </a:r>
          </a:p>
          <a:p>
            <a:pPr marL="0" indent="0">
              <a:buNone/>
            </a:pPr>
            <a:r>
              <a:rPr lang="en-US" dirty="0" smtClean="0"/>
              <a:t>&lt;/form&gt;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03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944" y="1561839"/>
            <a:ext cx="4744112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65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90</TotalTime>
  <Words>2172</Words>
  <Application>Microsoft Office PowerPoint</Application>
  <PresentationFormat>On-screen Show (4:3)</PresentationFormat>
  <Paragraphs>374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    Project Title: Hotel Reservation and Room Management   Presented by: Fatima Tuz Samiha ID: 2312003642 Course:Cse311 Section: 8 Faculty:MKN1 </vt:lpstr>
      <vt:lpstr>Project Overview: Hotel Reservation and Room Management System</vt:lpstr>
      <vt:lpstr>Key Features:</vt:lpstr>
      <vt:lpstr>Objectives:</vt:lpstr>
      <vt:lpstr>PowerPoint Presentation</vt:lpstr>
      <vt:lpstr>PowerPoint Presentation</vt:lpstr>
      <vt:lpstr>PowerPoint Presentation</vt:lpstr>
      <vt:lpstr>PowerPoint Presentation</vt:lpstr>
      <vt:lpstr>SQL query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Backend (PHP + SQL):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Overview: Hotel Reservation and Room Management System</dc:title>
  <dc:creator>user</dc:creator>
  <cp:lastModifiedBy>user</cp:lastModifiedBy>
  <cp:revision>9</cp:revision>
  <dcterms:created xsi:type="dcterms:W3CDTF">2025-12-04T15:41:15Z</dcterms:created>
  <dcterms:modified xsi:type="dcterms:W3CDTF">2025-12-04T17:11:45Z</dcterms:modified>
</cp:coreProperties>
</file>